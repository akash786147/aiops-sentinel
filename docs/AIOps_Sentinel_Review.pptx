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89cd1a-2ea6-bd04-5d43-40fc7eaa713a}">
          <p14:sldIdLst>
            <p14:sldId id="256"/>
            <p14:sldId id="257"/>
            <p14:sldId id="258"/>
            <p14:sldId id="259"/>
            <p14:sldId id="260"/>
            <p14:sldId id="261"/>
          </p14:sldIdLst>
        </p14:section>
        <p14:section name="Method" id="{897cf164-5ee1-a6ec-c2ae-e2f2625f9dc4}">
          <p14:sldIdLst>
            <p14:sldId id="262"/>
            <p14:sldId id="263"/>
            <p14:sldId id="264"/>
          </p14:sldIdLst>
        </p14:section>
        <p14:section name="Akash: detection" id="{349a3b60-fbb9-c8e7-795e-a4f87681fd22}">
          <p14:sldIdLst>
            <p14:sldId id="265"/>
            <p14:sldId id="266"/>
          </p14:sldIdLst>
        </p14:section>
        <p14:section name="Aryan: tracing" id="{8488ef31-0332-5c15-c624-334140a118f7}">
          <p14:sldIdLst>
            <p14:sldId id="267"/>
            <p14:sldId id="268"/>
            <p14:sldId id="269"/>
            <p14:sldId id="270"/>
          </p14:sldIdLst>
        </p14:section>
        <p14:section name="Syna: tests" id="{0234d60f-4953-59ad-299d-e88961e3382d}">
          <p14:sldIdLst>
            <p14:sldId id="271"/>
            <p14:sldId id="272"/>
          </p14:sldIdLst>
        </p14:section>
        <p14:section name="Results" id="{ff23bcfc-93ae-cd63-563e-1500ec786054}">
          <p14:sldIdLst>
            <p14:sldId id="273"/>
            <p14:sldId id="274"/>
            <p14:sldId id="275"/>
          </p14:sldIdLst>
        </p14:section>
        <p14:section name="Discussion" id="{7455dfe2-5d6c-b788-71d7-80e94acb26b2}">
          <p14:sldIdLst>
            <p14:sldId id="276"/>
            <p14:sldId id="277"/>
            <p14:sldId id="278"/>
            <p14:sldId id="279"/>
          </p14:sldIdLst>
        </p14:section>
        <p14:section name="Conclusion" id="{e2d96ba9-627e-0785-1998-26aa388700f3}">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Robust detector</c:v>
                </c:pt>
              </c:strCache>
            </c:strRef>
          </c:tx>
          <c:spPr>
            <a:solidFill>
              <a:srgbClr val="3D4FA0"/>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Sheet1!$A$2:$A$4</c:f>
              <c:multiLvlStrCache>
                <c:ptCount val="3"/>
                <c:lvl>
                  <c:pt idx="0">
                    <c:v>Fault recall</c:v>
                  </c:pt>
                  <c:pt idx="1">
                    <c:v>Right service first</c:v>
                  </c:pt>
                  <c:pt idx="2">
                    <c:v>False alarms (quiet controls)</c:v>
                  </c:pt>
                </c:lvl>
              </c:multiLvlStrCache>
            </c:multiLvlStrRef>
          </c:cat>
          <c:val>
            <c:numRef>
              <c:f>Sheet1!$B$2:$B$4</c:f>
              <c:numCache>
                <c:formatCode>General</c:formatCode>
                <c:ptCount val="3"/>
                <c:pt idx="0">
                  <c:v>0.917</c:v>
                </c:pt>
                <c:pt idx="1">
                  <c:v>0.917</c:v>
                </c:pt>
                <c:pt idx="2">
                  <c:v>0.333</c:v>
                </c:pt>
              </c:numCache>
            </c:numRef>
          </c:val>
        </c:ser>
        <c:ser>
          <c:idx val="1"/>
          <c:order val="1"/>
          <c:tx>
            <c:strRef>
              <c:f>Sheet1!$C$1</c:f>
              <c:strCache>
                <c:ptCount val="1"/>
                <c:pt idx="0">
                  <c:v>Fixed thresholds</c:v>
                </c:pt>
              </c:strCache>
            </c:strRef>
          </c:tx>
          <c:spPr>
            <a:solidFill>
              <a:srgbClr val="E07A2E"/>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Sheet1!$A$2:$A$4</c:f>
              <c:multiLvlStrCache>
                <c:ptCount val="3"/>
                <c:lvl>
                  <c:pt idx="0">
                    <c:v>Fault recall</c:v>
                  </c:pt>
                  <c:pt idx="1">
                    <c:v>Right service first</c:v>
                  </c:pt>
                  <c:pt idx="2">
                    <c:v>False alarms (quiet controls)</c:v>
                  </c:pt>
                </c:lvl>
              </c:multiLvlStrCache>
            </c:multiLvlStrRef>
          </c:cat>
          <c:val>
            <c:numRef>
              <c:f>Sheet1!$C$2:$C$4</c:f>
              <c:numCache>
                <c:formatCode>General</c:formatCode>
                <c:ptCount val="3"/>
                <c:pt idx="0">
                  <c:v>0.333</c:v>
                </c:pt>
                <c:pt idx="1">
                  <c:v>0.333</c:v>
                </c:pt>
                <c:pt idx="2">
                  <c:v>0</c:v>
                </c:pt>
              </c:numCache>
            </c:numRef>
          </c:val>
        </c:ser>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E2B"/>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E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Top-1</c:v>
                </c:pt>
              </c:strCache>
            </c:strRef>
          </c:tx>
          <c:spPr>
            <a:solidFill>
              <a:srgbClr val="E07A2E"/>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Sheet1!$A$2:$A$8</c:f>
              <c:multiLvlStrCache>
                <c:ptCount val="7"/>
                <c:lvl>
                  <c:pt idx="0">
                    <c:v>v0 retriever</c:v>
                  </c:pt>
                  <c:pt idx="1">
                    <c:v>Blame deploy</c:v>
                  </c:pt>
                  <c:pt idx="2">
                    <c:v>BM25</c:v>
                  </c:pt>
                  <c:pt idx="3">
                    <c:v>Dense</c:v>
                  </c:pt>
                  <c:pt idx="4">
                    <c:v>RAG + LLM</c:v>
                  </c:pt>
                  <c:pt idx="5">
                    <c:v>Hybrid</c:v>
                  </c:pt>
                  <c:pt idx="6">
                    <c:v>Hybrid + LLM</c:v>
                  </c:pt>
                </c:lvl>
              </c:multiLvlStrCache>
            </c:multiLvlStrRef>
          </c:cat>
          <c:val>
            <c:numRef>
              <c:f>Sheet1!$B$2:$B$8</c:f>
              <c:numCache>
                <c:formatCode>General</c:formatCode>
                <c:ptCount val="7"/>
                <c:pt idx="0">
                  <c:v>0.03</c:v>
                </c:pt>
                <c:pt idx="1">
                  <c:v>0.364</c:v>
                </c:pt>
                <c:pt idx="2">
                  <c:v>0.182</c:v>
                </c:pt>
                <c:pt idx="3">
                  <c:v>0.152</c:v>
                </c:pt>
                <c:pt idx="4">
                  <c:v>0.455</c:v>
                </c:pt>
                <c:pt idx="5">
                  <c:v>0.848</c:v>
                </c:pt>
                <c:pt idx="6">
                  <c:v>0.818</c:v>
                </c:pt>
              </c:numCache>
            </c:numRef>
          </c:val>
        </c:ser>
        <c:ser>
          <c:idx val="1"/>
          <c:order val="1"/>
          <c:tx>
            <c:strRef>
              <c:f>Sheet1!$C$1</c:f>
              <c:strCache>
                <c:ptCount val="1"/>
                <c:pt idx="0">
                  <c:v>Top-3</c:v>
                </c:pt>
              </c:strCache>
            </c:strRef>
          </c:tx>
          <c:spPr>
            <a:solidFill>
              <a:srgbClr val="3D4FA0"/>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Sheet1!$A$2:$A$8</c:f>
              <c:multiLvlStrCache>
                <c:ptCount val="7"/>
                <c:lvl>
                  <c:pt idx="0">
                    <c:v>v0 retriever</c:v>
                  </c:pt>
                  <c:pt idx="1">
                    <c:v>Blame deploy</c:v>
                  </c:pt>
                  <c:pt idx="2">
                    <c:v>BM25</c:v>
                  </c:pt>
                  <c:pt idx="3">
                    <c:v>Dense</c:v>
                  </c:pt>
                  <c:pt idx="4">
                    <c:v>RAG + LLM</c:v>
                  </c:pt>
                  <c:pt idx="5">
                    <c:v>Hybrid</c:v>
                  </c:pt>
                  <c:pt idx="6">
                    <c:v>Hybrid + LLM</c:v>
                  </c:pt>
                </c:lvl>
              </c:multiLvlStrCache>
            </c:multiLvlStrRef>
          </c:cat>
          <c:val>
            <c:numRef>
              <c:f>Sheet1!$C$2:$C$8</c:f>
              <c:numCache>
                <c:formatCode>General</c:formatCode>
                <c:ptCount val="7"/>
                <c:pt idx="0">
                  <c:v>0.303</c:v>
                </c:pt>
                <c:pt idx="1">
                  <c:v>0.667</c:v>
                </c:pt>
                <c:pt idx="2">
                  <c:v>0.273</c:v>
                </c:pt>
                <c:pt idx="3">
                  <c:v>0.455</c:v>
                </c:pt>
                <c:pt idx="4">
                  <c:v>0.545</c:v>
                </c:pt>
                <c:pt idx="5">
                  <c:v>0.97</c:v>
                </c:pt>
                <c:pt idx="6">
                  <c:v>0.939</c:v>
                </c:pt>
              </c:numCache>
            </c:numRef>
          </c:val>
        </c:ser>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E2B"/>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E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Top-1</c:v>
                </c:pt>
              </c:strCache>
            </c:strRef>
          </c:tx>
          <c:spPr>
            <a:solidFill>
              <a:srgbClr val="E07A2E"/>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Sheet1!$A$2:$A$8</c:f>
              <c:multiLvlStrCache>
                <c:ptCount val="7"/>
                <c:lvl>
                  <c:pt idx="0">
                    <c:v>Full hybrid</c:v>
                  </c:pt>
                  <c:pt idx="1">
                    <c:v>- stack frames</c:v>
                  </c:pt>
                  <c:pt idx="2">
                    <c:v>- route + call graph</c:v>
                  </c:pt>
                  <c:pt idx="3">
                    <c:v>- deploy diff</c:v>
                  </c:pt>
                  <c:pt idx="4">
                    <c:v>- dense</c:v>
                  </c:pt>
                  <c:pt idx="5">
                    <c:v>- lexical</c:v>
                  </c:pt>
                  <c:pt idx="6">
                    <c:v>- tenant scope</c:v>
                  </c:pt>
                </c:lvl>
              </c:multiLvlStrCache>
            </c:multiLvlStrRef>
          </c:cat>
          <c:val>
            <c:numRef>
              <c:f>Sheet1!$B$2:$B$8</c:f>
              <c:numCache>
                <c:formatCode>General</c:formatCode>
                <c:ptCount val="7"/>
                <c:pt idx="0">
                  <c:v>0.848</c:v>
                </c:pt>
                <c:pt idx="1">
                  <c:v>0.848</c:v>
                </c:pt>
                <c:pt idx="2">
                  <c:v>0.667</c:v>
                </c:pt>
                <c:pt idx="3">
                  <c:v>0.606</c:v>
                </c:pt>
                <c:pt idx="4">
                  <c:v>0.909</c:v>
                </c:pt>
                <c:pt idx="5">
                  <c:v>0.909</c:v>
                </c:pt>
                <c:pt idx="6">
                  <c:v>0.879</c:v>
                </c:pt>
              </c:numCache>
            </c:numRef>
          </c:val>
        </c:ser>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E2B"/>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LLM gpt-5.4-mini</c:v>
                </c:pt>
              </c:strCache>
            </c:strRef>
          </c:tx>
          <c:spPr>
            <a:solidFill>
              <a:srgbClr val="3C8D5A"/>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Sheet1!$A$2:$A$5</c:f>
              <c:multiLvlStrCache>
                <c:ptCount val="4"/>
                <c:lvl>
                  <c:pt idx="0">
                    <c:v>Guard pass</c:v>
                  </c:pt>
                  <c:pt idx="1">
                    <c:v>Fails on faulty</c:v>
                  </c:pt>
                  <c:pt idx="2">
                    <c:v>Passes on known-good</c:v>
                  </c:pt>
                  <c:pt idx="3">
                    <c:v>Confirming</c:v>
                  </c:pt>
                </c:lvl>
              </c:multiLvlStrCache>
            </c:multiLvlStrRef>
          </c:cat>
          <c:val>
            <c:numRef>
              <c:f>Sheet1!$B$2:$B$5</c:f>
              <c:numCache>
                <c:formatCode>General</c:formatCode>
                <c:ptCount val="4"/>
                <c:pt idx="0">
                  <c:v>0.909</c:v>
                </c:pt>
                <c:pt idx="1">
                  <c:v>0.909</c:v>
                </c:pt>
                <c:pt idx="2">
                  <c:v>0.909</c:v>
                </c:pt>
                <c:pt idx="3">
                  <c:v>0.909</c:v>
                </c:pt>
              </c:numCache>
            </c:numRef>
          </c:val>
        </c:ser>
        <c:ser>
          <c:idx val="1"/>
          <c:order val="1"/>
          <c:tx>
            <c:strRef>
              <c:f>Sheet1!$C$1</c:f>
              <c:strCache>
                <c:ptCount val="1"/>
                <c:pt idx="0">
                  <c:v>LLM gpt-oss-120b</c:v>
                </c:pt>
              </c:strCache>
            </c:strRef>
          </c:tx>
          <c:spPr>
            <a:solidFill>
              <a:srgbClr val="3D4FA0"/>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Sheet1!$A$2:$A$5</c:f>
              <c:multiLvlStrCache>
                <c:ptCount val="4"/>
                <c:lvl>
                  <c:pt idx="0">
                    <c:v>Guard pass</c:v>
                  </c:pt>
                  <c:pt idx="1">
                    <c:v>Fails on faulty</c:v>
                  </c:pt>
                  <c:pt idx="2">
                    <c:v>Passes on known-good</c:v>
                  </c:pt>
                  <c:pt idx="3">
                    <c:v>Confirming</c:v>
                  </c:pt>
                </c:lvl>
              </c:multiLvlStrCache>
            </c:multiLvlStrRef>
          </c:cat>
          <c:val>
            <c:numRef>
              <c:f>Sheet1!$C$2:$C$5</c:f>
              <c:numCache>
                <c:formatCode>General</c:formatCode>
                <c:ptCount val="4"/>
                <c:pt idx="0">
                  <c:v>1</c:v>
                </c:pt>
                <c:pt idx="1">
                  <c:v>0.909</c:v>
                </c:pt>
                <c:pt idx="2">
                  <c:v>0.364</c:v>
                </c:pt>
                <c:pt idx="3">
                  <c:v>0.273</c:v>
                </c:pt>
              </c:numCache>
            </c:numRef>
          </c:val>
        </c:ser>
        <c:ser>
          <c:idx val="2"/>
          <c:order val="2"/>
          <c:tx>
            <c:strRef>
              <c:f>Sheet1!$D$1</c:f>
              <c:strCache>
                <c:ptCount val="1"/>
                <c:pt idx="0">
                  <c:v>Template</c:v>
                </c:pt>
              </c:strCache>
            </c:strRef>
          </c:tx>
          <c:spPr>
            <a:solidFill>
              <a:srgbClr val="E07A2E"/>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Sheet1!$A$2:$A$5</c:f>
              <c:multiLvlStrCache>
                <c:ptCount val="4"/>
                <c:lvl>
                  <c:pt idx="0">
                    <c:v>Guard pass</c:v>
                  </c:pt>
                  <c:pt idx="1">
                    <c:v>Fails on faulty</c:v>
                  </c:pt>
                  <c:pt idx="2">
                    <c:v>Passes on known-good</c:v>
                  </c:pt>
                  <c:pt idx="3">
                    <c:v>Confirming</c:v>
                  </c:pt>
                </c:lvl>
              </c:multiLvlStrCache>
            </c:multiLvlStrRef>
          </c:cat>
          <c:val>
            <c:numRef>
              <c:f>Sheet1!$D$2:$D$5</c:f>
              <c:numCache>
                <c:formatCode>General</c:formatCode>
                <c:ptCount val="4"/>
                <c:pt idx="0">
                  <c:v>1</c:v>
                </c:pt>
                <c:pt idx="1">
                  <c:v>0.939</c:v>
                </c:pt>
                <c:pt idx="2">
                  <c:v>1</c:v>
                </c:pt>
                <c:pt idx="3">
                  <c:v>0.939</c:v>
                </c:pt>
              </c:numCache>
            </c:numRef>
          </c:val>
        </c:ser>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E2B"/>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E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Action accuracy</c:v>
                </c:pt>
              </c:strCache>
            </c:strRef>
          </c:tx>
          <c:spPr>
            <a:solidFill>
              <a:srgbClr val="3D4FA0"/>
            </a:solidFill>
            <a:effectLst/>
          </c:spPr>
          <c:invertIfNegative val="0"/>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cat>
            <c:multiLvlStrRef>
              <c:f>Sheet1!$A$2:$A$5</c:f>
              <c:multiLvlStrCache>
                <c:ptCount val="4"/>
                <c:lvl>
                  <c:pt idx="0">
                    <c:v>Sentinel</c:v>
                  </c:pt>
                  <c:pt idx="1">
                    <c:v>Sentinel + LLM</c:v>
                  </c:pt>
                  <c:pt idx="2">
                    <c:v>Scale on robust alert</c:v>
                  </c:pt>
                  <c:pt idx="3">
                    <c:v>Scale on threshold alert</c:v>
                  </c:pt>
                </c:lvl>
              </c:multiLvlStrCache>
            </c:multiLvlStrRef>
          </c:cat>
          <c:val>
            <c:numRef>
              <c:f>Sheet1!$B$2:$B$5</c:f>
              <c:numCache>
                <c:formatCode>General</c:formatCode>
                <c:ptCount val="4"/>
                <c:pt idx="0">
                  <c:v>0.822</c:v>
                </c:pt>
                <c:pt idx="1">
                  <c:v>0.822</c:v>
                </c:pt>
                <c:pt idx="2">
                  <c:v>0.133</c:v>
                </c:pt>
                <c:pt idx="3">
                  <c:v>0.133</c:v>
                </c:pt>
              </c:numCache>
            </c:numRef>
          </c:val>
        </c:ser>
        <c:dLbls>
          <c:numFmt formatCode="0%" sourceLinked="0"/>
          <c:txPr>
            <a:bodyPr/>
            <a:lstStyle/>
            <a:p>
              <a:pPr>
                <a:defRPr b="0" i="0" strike="noStrike" sz="1100" u="none">
                  <a:solidFill>
                    <a:srgbClr val="1B1E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E2B"/>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Sentinel watches a shared server, and when one tenant breaks it does not just scale it; it finds the function that caused the problem and proves it with a test. Each of us presents one part; the coloured pill on each slide shows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shared servers hide which tenant is in trouble, scaling hides code faults, and an unproven AI diagnosis is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first prototype looked like it worked but every hard part was hard-coded. This slide is why everything after it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objective four: recommending capacity only when there is no code evidence, and staying quiet on harmless deployments, is part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owns a part end to end: code, experiment and slides. Everyone has run the whole pipeline and can explain every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main question aloud. Each presenter reads their own sub-question when their section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Teal boxes are built and evaluated. Dashed boxes are designed but deliberately not automated: fix PR, CI/CD rollout and post-deploy watch. Audit is written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faults are real code changes deployed through git, hidden among decoy commits, under the same traffic before and after. Because we wrote the faulty commit, we know the exact faulty lines, and reverting it gives a known-good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fault is a plausible commit with an innocent message. Read two or three rows; point out that F05 is a config change and F09 only shows up under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 is per route and per process, so every signal has an owner. The detector compares after the change with before, robustly, and must see a sustained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 recall is over 36 fault runs; false alarms over the quiet controls H01 and H02. Explain why thresholds miss: most faults raise latency from single-digit milliseconds to around 100 ms, far under a 500 ms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packet is what the model is allowed to see, and its hash is in the audit trail. The index splits code the way a human would name a cause: by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were set before running the benchmark, from how strong each kind of evidence is, and never tuned on results. The LLM only re-orders the top eight and must cite candidate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 means the first suspect overlaps the faulty lines. Blame-deploy is the strongest naive baseline because most incidents are change-induced; the hybrid adds call-path and stack-frame evidence to pick the right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removes one feature and re-runs the same incidents. The biggest drop tells us which evidence the result depends on. The right-hand table compares three LLMs on the same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has a strict definition: fail by assertion on the deployed code AND pass on the known-good code. Crashes, collection errors and timeouts do not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confirming bar for each generator. Fails-on-faulty without passes-on-known-good means the test was too strict, which is the main failure mode we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action is code_fix for every fault, none for H01/H02 and capacity_scale for H03. Scale-on-alert is what a classic autoscaler does whenever an alert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boxes. Then open the audit file to show every stage was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justify each choice: in-process telemetry for reproducibility, own BM25 for transparency, a small CPU embedding model, three hosted LLMs compared on identical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the last two rows: steps 7-10 are not evaluated, and everything is one small shared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presenter reads their own column. The failure cases come from the runs; the rest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card before the panel does: we wrote the faults and the tracer. That is why weights were fixed in advance and seeds 1-2 are held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Recordings keep raw telemetry, so analysis can be re-run without traffic. LLM answers are cached by prompt hash, so re-scoring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answering the research question with the numbers, then the next steps by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E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tx2"/>
                </a:solidFill>
                <a:latin typeface="Calibri" pitchFamily="34" charset="0"/>
                <a:ea typeface="Calibri" pitchFamily="34" charset="-122"/>
                <a:cs typeface="Calibri" pitchFamily="34" charset="-120"/>
              </a:rPr>
              <a:t>AIOps Sentinel  |  Project review</a:t>
            </a:r>
            <a:endParaRPr lang="en-US" sz="1000" dirty="0"/>
          </a:p>
        </p:txBody>
      </p:sp>
      <p:sp>
        <p:nvSpPr>
          <p:cNvPr id="3" name="Text 1"/>
          <p:cNvSpPr/>
          <p:nvPr>
            <p:ph idx="101" type="title" hasCustomPrompt="1"/>
          </p:nvPr>
        </p:nvSpPr>
        <p:spPr>
          <a:xfrm>
            <a:off x="548640" y="603504"/>
            <a:ext cx="8595360"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p:cNvSpPr/>
          <p:nvPr/>
        </p:nvSpPr>
        <p:spPr>
          <a:xfrm>
            <a:off x="822960" y="640080"/>
            <a:ext cx="274320" cy="274320"/>
          </a:xfrm>
          <a:prstGeom prst="ellipse">
            <a:avLst/>
          </a:prstGeom>
          <a:solidFill>
            <a:srgbClr val="3D4FA0"/>
          </a:solidFill>
          <a:ln w="12700">
            <a:solidFill>
              <a:srgbClr val="3D4FA0"/>
            </a:solidFill>
            <a:prstDash val="solid"/>
          </a:ln>
        </p:spPr>
      </p:sp>
      <p:sp>
        <p:nvSpPr>
          <p:cNvPr id="3" name="motif"/>
          <p:cNvSpPr/>
          <p:nvPr/>
        </p:nvSpPr>
        <p:spPr>
          <a:xfrm>
            <a:off x="1280160" y="640080"/>
            <a:ext cx="274320" cy="274320"/>
          </a:xfrm>
          <a:prstGeom prst="ellipse">
            <a:avLst/>
          </a:prstGeom>
          <a:solidFill>
            <a:srgbClr val="E07A2E"/>
          </a:solidFill>
          <a:ln w="12700">
            <a:solidFill>
              <a:srgbClr val="E07A2E"/>
            </a:solidFill>
            <a:prstDash val="solid"/>
          </a:ln>
        </p:spPr>
      </p:sp>
      <p:sp>
        <p:nvSpPr>
          <p:cNvPr id="4" name="motif"/>
          <p:cNvSpPr/>
          <p:nvPr/>
        </p:nvSpPr>
        <p:spPr>
          <a:xfrm>
            <a:off x="1737360" y="640080"/>
            <a:ext cx="274320" cy="274320"/>
          </a:xfrm>
          <a:prstGeom prst="ellipse">
            <a:avLst/>
          </a:prstGeom>
          <a:solidFill>
            <a:srgbClr val="3C8D5A"/>
          </a:solidFill>
          <a:ln w="12700">
            <a:solidFill>
              <a:srgbClr val="3C8D5A"/>
            </a:solidFill>
            <a:prstDash val="solid"/>
          </a:ln>
        </p:spPr>
      </p:sp>
      <p:sp>
        <p:nvSpPr>
          <p:cNvPr id="5" name="Text 3"/>
          <p:cNvSpPr txBox="1"/>
          <p:nvPr/>
        </p:nvSpPr>
        <p:spPr>
          <a:xfrm>
            <a:off x="822960" y="1371600"/>
            <a:ext cx="7315200" cy="320040"/>
          </a:xfrm>
          <a:prstGeom prst="rect">
            <a:avLst/>
          </a:prstGeom>
          <a:noFill/>
          <a:ln/>
        </p:spPr>
        <p:txBody>
          <a:bodyPr wrap="square" lIns="0" tIns="0" rIns="0" bIns="0" rtlCol="0" anchor="t"/>
          <a:lstStyle/>
          <a:p>
            <a:pPr indent="0" marL="0">
              <a:buNone/>
            </a:pPr>
            <a:r>
              <a:rPr lang="en-US" sz="1400" b="1" spc="400" kern="0" dirty="0">
                <a:solidFill>
                  <a:srgbClr val="E07A2E"/>
                </a:solidFill>
              </a:rPr>
              <a:t>PROJECT REVIEW</a:t>
            </a:r>
            <a:endParaRPr lang="en-US" sz="1400" dirty="0"/>
          </a:p>
        </p:txBody>
      </p:sp>
      <p:sp>
        <p:nvSpPr>
          <p:cNvPr id="6" name="Text 4"/>
          <p:cNvSpPr txBox="1"/>
          <p:nvPr/>
        </p:nvSpPr>
        <p:spPr>
          <a:xfrm>
            <a:off x="822960" y="1783080"/>
            <a:ext cx="10515600" cy="100584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AIOps Sentinel</a:t>
            </a:r>
            <a:endParaRPr lang="en-US" sz="6000" dirty="0"/>
          </a:p>
        </p:txBody>
      </p:sp>
      <p:sp>
        <p:nvSpPr>
          <p:cNvPr id="7" name="Text 5"/>
          <p:cNvSpPr txBox="1"/>
          <p:nvPr/>
        </p:nvSpPr>
        <p:spPr>
          <a:xfrm>
            <a:off x="822960" y="2926080"/>
            <a:ext cx="10515600" cy="548640"/>
          </a:xfrm>
          <a:prstGeom prst="rect">
            <a:avLst/>
          </a:prstGeom>
          <a:noFill/>
          <a:ln/>
        </p:spPr>
        <p:txBody>
          <a:bodyPr wrap="square" lIns="0" tIns="0" rIns="0" bIns="0" rtlCol="0" anchor="t"/>
          <a:lstStyle/>
          <a:p>
            <a:pPr indent="0" marL="0">
              <a:buNone/>
            </a:pPr>
            <a:r>
              <a:rPr lang="en-US" sz="2600" dirty="0">
                <a:solidFill>
                  <a:srgbClr val="D6DAEA"/>
                </a:solidFill>
              </a:rPr>
              <a:t>Tracing shared-server incidents back to the code that caused them</a:t>
            </a:r>
            <a:endParaRPr lang="en-US" sz="2600" dirty="0"/>
          </a:p>
        </p:txBody>
      </p:sp>
      <p:sp>
        <p:nvSpPr>
          <p:cNvPr id="8" name="Text 6"/>
          <p:cNvSpPr txBox="1"/>
          <p:nvPr/>
        </p:nvSpPr>
        <p:spPr>
          <a:xfrm>
            <a:off x="822960" y="3840480"/>
            <a:ext cx="10515600" cy="457200"/>
          </a:xfrm>
          <a:prstGeom prst="rect">
            <a:avLst/>
          </a:prstGeom>
          <a:noFill/>
          <a:ln/>
        </p:spPr>
        <p:txBody>
          <a:bodyPr wrap="square" lIns="0" tIns="0" rIns="0" bIns="0" rtlCol="0" anchor="t"/>
          <a:lstStyle/>
          <a:p>
            <a:pPr indent="0" marL="0">
              <a:buNone/>
            </a:pPr>
            <a:r>
              <a:rPr lang="en-US" sz="1800" i="1" dirty="0">
                <a:solidFill>
                  <a:srgbClr val="A0A6BC"/>
                </a:solidFill>
              </a:rPr>
              <a:t>Monitor every tenant, find the faulty function, prove it with a generated test; a human approves any fix</a:t>
            </a:r>
            <a:endParaRPr lang="en-US" sz="1800" dirty="0"/>
          </a:p>
        </p:txBody>
      </p:sp>
      <p:sp>
        <p:nvSpPr>
          <p:cNvPr id="9" name="team badge"/>
          <p:cNvSpPr/>
          <p:nvPr/>
        </p:nvSpPr>
        <p:spPr>
          <a:xfrm>
            <a:off x="822960" y="4983480"/>
            <a:ext cx="457200" cy="457200"/>
          </a:xfrm>
          <a:prstGeom prst="ellipse">
            <a:avLst/>
          </a:prstGeom>
          <a:solidFill>
            <a:srgbClr val="3D4FA0"/>
          </a:solidFill>
          <a:ln w="12700">
            <a:solidFill>
              <a:srgbClr val="3D4FA0"/>
            </a:solidFill>
            <a:prstDash val="solid"/>
          </a:ln>
        </p:spPr>
      </p:sp>
      <p:sp>
        <p:nvSpPr>
          <p:cNvPr id="10" name="Text 8"/>
          <p:cNvSpPr txBox="1"/>
          <p:nvPr/>
        </p:nvSpPr>
        <p:spPr>
          <a:xfrm>
            <a:off x="822960" y="4983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P1</a:t>
            </a:r>
            <a:endParaRPr lang="en-US" sz="1400" dirty="0"/>
          </a:p>
        </p:txBody>
      </p:sp>
      <p:sp>
        <p:nvSpPr>
          <p:cNvPr id="11" name="Text 9"/>
          <p:cNvSpPr txBox="1"/>
          <p:nvPr/>
        </p:nvSpPr>
        <p:spPr>
          <a:xfrm>
            <a:off x="1417320" y="4956048"/>
            <a:ext cx="2926080" cy="292608"/>
          </a:xfrm>
          <a:prstGeom prst="rect">
            <a:avLst/>
          </a:prstGeom>
          <a:noFill/>
          <a:ln/>
        </p:spPr>
        <p:txBody>
          <a:bodyPr wrap="square" lIns="0" tIns="0" rIns="0" bIns="0" rtlCol="0" anchor="t"/>
          <a:lstStyle/>
          <a:p>
            <a:pPr indent="0" marL="0">
              <a:buNone/>
            </a:pPr>
            <a:r>
              <a:rPr lang="en-US" sz="1600" b="1" dirty="0">
                <a:solidFill>
                  <a:srgbClr val="FFFFFF"/>
                </a:solidFill>
              </a:rPr>
              <a:t>Akash</a:t>
            </a:r>
            <a:endParaRPr lang="en-US" sz="1600" dirty="0"/>
          </a:p>
        </p:txBody>
      </p:sp>
      <p:sp>
        <p:nvSpPr>
          <p:cNvPr id="12" name="Text 10"/>
          <p:cNvSpPr txBox="1"/>
          <p:nvPr/>
        </p:nvSpPr>
        <p:spPr>
          <a:xfrm>
            <a:off x="1417320" y="5248656"/>
            <a:ext cx="2926080" cy="274320"/>
          </a:xfrm>
          <a:prstGeom prst="rect">
            <a:avLst/>
          </a:prstGeom>
          <a:noFill/>
          <a:ln/>
        </p:spPr>
        <p:txBody>
          <a:bodyPr wrap="square" lIns="0" tIns="0" rIns="0" bIns="0" rtlCol="0" anchor="t"/>
          <a:lstStyle/>
          <a:p>
            <a:pPr indent="0" marL="0">
              <a:buNone/>
            </a:pPr>
            <a:r>
              <a:rPr lang="en-US" sz="1200" dirty="0">
                <a:solidFill>
                  <a:srgbClr val="A0A6BC"/>
                </a:solidFill>
              </a:rPr>
              <a:t>Monitoring, registry, detection</a:t>
            </a:r>
            <a:endParaRPr lang="en-US" sz="1200" dirty="0"/>
          </a:p>
        </p:txBody>
      </p:sp>
      <p:sp>
        <p:nvSpPr>
          <p:cNvPr id="13" name="team badge"/>
          <p:cNvSpPr/>
          <p:nvPr/>
        </p:nvSpPr>
        <p:spPr>
          <a:xfrm>
            <a:off x="4434840" y="4983480"/>
            <a:ext cx="457200" cy="457200"/>
          </a:xfrm>
          <a:prstGeom prst="ellipse">
            <a:avLst/>
          </a:prstGeom>
          <a:solidFill>
            <a:srgbClr val="E07A2E"/>
          </a:solidFill>
          <a:ln w="12700">
            <a:solidFill>
              <a:srgbClr val="E07A2E"/>
            </a:solidFill>
            <a:prstDash val="solid"/>
          </a:ln>
        </p:spPr>
      </p:sp>
      <p:sp>
        <p:nvSpPr>
          <p:cNvPr id="14" name="Text 12"/>
          <p:cNvSpPr txBox="1"/>
          <p:nvPr/>
        </p:nvSpPr>
        <p:spPr>
          <a:xfrm>
            <a:off x="4434840" y="4983480"/>
            <a:ext cx="457200" cy="457200"/>
          </a:xfrm>
          <a:prstGeom prst="rect">
            <a:avLst/>
          </a:prstGeom>
          <a:noFill/>
          <a:ln/>
        </p:spPr>
        <p:txBody>
          <a:bodyPr wrap="square" lIns="0" tIns="0" rIns="0" bIns="0" rtlCol="0" anchor="ctr"/>
          <a:lstStyle/>
          <a:p>
            <a:pPr algn="ctr" indent="0" marL="0">
              <a:buNone/>
            </a:pPr>
            <a:r>
              <a:rPr lang="en-US" sz="1400" b="1" dirty="0">
                <a:solidFill>
                  <a:srgbClr val="1B1E2B"/>
                </a:solidFill>
                <a:latin typeface="Cambria" pitchFamily="34" charset="0"/>
                <a:ea typeface="Cambria" pitchFamily="34" charset="-122"/>
                <a:cs typeface="Cambria" pitchFamily="34" charset="-120"/>
              </a:rPr>
              <a:t>P2</a:t>
            </a:r>
            <a:endParaRPr lang="en-US" sz="1400" dirty="0"/>
          </a:p>
        </p:txBody>
      </p:sp>
      <p:sp>
        <p:nvSpPr>
          <p:cNvPr id="15" name="Text 13"/>
          <p:cNvSpPr txBox="1"/>
          <p:nvPr/>
        </p:nvSpPr>
        <p:spPr>
          <a:xfrm>
            <a:off x="5029200" y="4956048"/>
            <a:ext cx="2926080" cy="292608"/>
          </a:xfrm>
          <a:prstGeom prst="rect">
            <a:avLst/>
          </a:prstGeom>
          <a:noFill/>
          <a:ln/>
        </p:spPr>
        <p:txBody>
          <a:bodyPr wrap="square" lIns="0" tIns="0" rIns="0" bIns="0" rtlCol="0" anchor="t"/>
          <a:lstStyle/>
          <a:p>
            <a:pPr indent="0" marL="0">
              <a:buNone/>
            </a:pPr>
            <a:r>
              <a:rPr lang="en-US" sz="1600" b="1" dirty="0">
                <a:solidFill>
                  <a:srgbClr val="FFFFFF"/>
                </a:solidFill>
              </a:rPr>
              <a:t>Aryan</a:t>
            </a:r>
            <a:endParaRPr lang="en-US" sz="1600" dirty="0"/>
          </a:p>
        </p:txBody>
      </p:sp>
      <p:sp>
        <p:nvSpPr>
          <p:cNvPr id="16" name="Text 14"/>
          <p:cNvSpPr txBox="1"/>
          <p:nvPr/>
        </p:nvSpPr>
        <p:spPr>
          <a:xfrm>
            <a:off x="5029200" y="5248656"/>
            <a:ext cx="2926080" cy="274320"/>
          </a:xfrm>
          <a:prstGeom prst="rect">
            <a:avLst/>
          </a:prstGeom>
          <a:noFill/>
          <a:ln/>
        </p:spPr>
        <p:txBody>
          <a:bodyPr wrap="square" lIns="0" tIns="0" rIns="0" bIns="0" rtlCol="0" anchor="t"/>
          <a:lstStyle/>
          <a:p>
            <a:pPr indent="0" marL="0">
              <a:buNone/>
            </a:pPr>
            <a:r>
              <a:rPr lang="en-US" sz="1200" dirty="0">
                <a:solidFill>
                  <a:srgbClr val="A0A6BC"/>
                </a:solidFill>
              </a:rPr>
              <a:t>Evidence packet, code index, tracing</a:t>
            </a:r>
            <a:endParaRPr lang="en-US" sz="1200" dirty="0"/>
          </a:p>
        </p:txBody>
      </p:sp>
      <p:sp>
        <p:nvSpPr>
          <p:cNvPr id="17" name="team badge"/>
          <p:cNvSpPr/>
          <p:nvPr/>
        </p:nvSpPr>
        <p:spPr>
          <a:xfrm>
            <a:off x="8046720" y="4983480"/>
            <a:ext cx="457200" cy="457200"/>
          </a:xfrm>
          <a:prstGeom prst="ellipse">
            <a:avLst/>
          </a:prstGeom>
          <a:solidFill>
            <a:srgbClr val="3C8D5A"/>
          </a:solidFill>
          <a:ln w="12700">
            <a:solidFill>
              <a:srgbClr val="3C8D5A"/>
            </a:solidFill>
            <a:prstDash val="solid"/>
          </a:ln>
        </p:spPr>
      </p:sp>
      <p:sp>
        <p:nvSpPr>
          <p:cNvPr id="18" name="Text 16"/>
          <p:cNvSpPr txBox="1"/>
          <p:nvPr/>
        </p:nvSpPr>
        <p:spPr>
          <a:xfrm>
            <a:off x="8046720" y="4983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P3</a:t>
            </a:r>
            <a:endParaRPr lang="en-US" sz="1400" dirty="0"/>
          </a:p>
        </p:txBody>
      </p:sp>
      <p:sp>
        <p:nvSpPr>
          <p:cNvPr id="19" name="Text 17"/>
          <p:cNvSpPr txBox="1"/>
          <p:nvPr/>
        </p:nvSpPr>
        <p:spPr>
          <a:xfrm>
            <a:off x="8641080" y="4956048"/>
            <a:ext cx="2926080" cy="292608"/>
          </a:xfrm>
          <a:prstGeom prst="rect">
            <a:avLst/>
          </a:prstGeom>
          <a:noFill/>
          <a:ln/>
        </p:spPr>
        <p:txBody>
          <a:bodyPr wrap="square" lIns="0" tIns="0" rIns="0" bIns="0" rtlCol="0" anchor="t"/>
          <a:lstStyle/>
          <a:p>
            <a:pPr indent="0" marL="0">
              <a:buNone/>
            </a:pPr>
            <a:r>
              <a:rPr lang="en-US" sz="1600" b="1" dirty="0">
                <a:solidFill>
                  <a:srgbClr val="FFFFFF"/>
                </a:solidFill>
              </a:rPr>
              <a:t>Syna</a:t>
            </a:r>
            <a:endParaRPr lang="en-US" sz="1600" dirty="0"/>
          </a:p>
        </p:txBody>
      </p:sp>
      <p:sp>
        <p:nvSpPr>
          <p:cNvPr id="20" name="Text 18"/>
          <p:cNvSpPr txBox="1"/>
          <p:nvPr/>
        </p:nvSpPr>
        <p:spPr>
          <a:xfrm>
            <a:off x="8641080" y="5248656"/>
            <a:ext cx="2926080" cy="274320"/>
          </a:xfrm>
          <a:prstGeom prst="rect">
            <a:avLst/>
          </a:prstGeom>
          <a:noFill/>
          <a:ln/>
        </p:spPr>
        <p:txBody>
          <a:bodyPr wrap="square" lIns="0" tIns="0" rIns="0" bIns="0" rtlCol="0" anchor="t"/>
          <a:lstStyle/>
          <a:p>
            <a:pPr indent="0" marL="0">
              <a:buNone/>
            </a:pPr>
            <a:r>
              <a:rPr lang="en-US" sz="1200" dirty="0">
                <a:solidFill>
                  <a:srgbClr val="A0A6BC"/>
                </a:solidFill>
              </a:rPr>
              <a:t>Test generation, LLM, evaluation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PROBLEM STATEMENT</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An alert says something is wrong, not where</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737360"/>
            <a:ext cx="3383280" cy="32461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badge"/>
          <p:cNvSpPr/>
          <p:nvPr/>
        </p:nvSpPr>
        <p:spPr>
          <a:xfrm>
            <a:off x="822960" y="201168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822960" y="2651760"/>
            <a:ext cx="288036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Shared servers hide the tenant</a:t>
            </a:r>
            <a:endParaRPr lang="en-US" sz="2200" dirty="0"/>
          </a:p>
        </p:txBody>
      </p:sp>
      <p:sp>
        <p:nvSpPr>
          <p:cNvPr id="11" name="Text 8"/>
          <p:cNvSpPr txBox="1"/>
          <p:nvPr/>
        </p:nvSpPr>
        <p:spPr>
          <a:xfrm>
            <a:off x="822960" y="3520440"/>
            <a:ext cx="2880360" cy="1371600"/>
          </a:xfrm>
          <a:prstGeom prst="rect">
            <a:avLst/>
          </a:prstGeom>
          <a:noFill/>
          <a:ln/>
        </p:spPr>
        <p:txBody>
          <a:bodyPr wrap="square" lIns="0" tIns="0" rIns="0" bIns="0" rtlCol="0" anchor="t"/>
          <a:lstStyle/>
          <a:p>
            <a:pPr indent="0" marL="0">
              <a:buNone/>
            </a:pPr>
            <a:r>
              <a:rPr lang="en-US" sz="1500" dirty="0">
                <a:solidFill>
                  <a:schemeClr val="tx2"/>
                </a:solidFill>
              </a:rPr>
              <a:t>Host CPU and latency rise for everyone. Which of the services on the box broke, and which function inside it?</a:t>
            </a:r>
            <a:endParaRPr lang="en-US" sz="1500" dirty="0"/>
          </a:p>
        </p:txBody>
      </p:sp>
      <p:sp>
        <p:nvSpPr>
          <p:cNvPr id="12" name="card"/>
          <p:cNvSpPr/>
          <p:nvPr/>
        </p:nvSpPr>
        <p:spPr>
          <a:xfrm>
            <a:off x="4325112" y="1737360"/>
            <a:ext cx="3383280" cy="32461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3" name="badge"/>
          <p:cNvSpPr/>
          <p:nvPr/>
        </p:nvSpPr>
        <p:spPr>
          <a:xfrm>
            <a:off x="4599432" y="20116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4599432"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4599432" y="2651760"/>
            <a:ext cx="288036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Scaling hides code faults</a:t>
            </a:r>
            <a:endParaRPr lang="en-US" sz="2200" dirty="0"/>
          </a:p>
        </p:txBody>
      </p:sp>
      <p:sp>
        <p:nvSpPr>
          <p:cNvPr id="16" name="Text 13"/>
          <p:cNvSpPr txBox="1"/>
          <p:nvPr/>
        </p:nvSpPr>
        <p:spPr>
          <a:xfrm>
            <a:off x="4599432" y="3520440"/>
            <a:ext cx="2880360" cy="1371600"/>
          </a:xfrm>
          <a:prstGeom prst="rect">
            <a:avLst/>
          </a:prstGeom>
          <a:noFill/>
          <a:ln/>
        </p:spPr>
        <p:txBody>
          <a:bodyPr wrap="square" lIns="0" tIns="0" rIns="0" bIns="0" rtlCol="0" anchor="t"/>
          <a:lstStyle/>
          <a:p>
            <a:pPr indent="0" marL="0">
              <a:buNone/>
            </a:pPr>
            <a:r>
              <a:rPr lang="en-US" sz="1500" dirty="0">
                <a:solidFill>
                  <a:schemeClr val="tx2"/>
                </a:solidFill>
              </a:rPr>
              <a:t>Adding replicas to an N+1 query or a memory leak buys time and money, but the bug ships to every replica.</a:t>
            </a:r>
            <a:endParaRPr lang="en-US" sz="1500" dirty="0"/>
          </a:p>
        </p:txBody>
      </p:sp>
      <p:sp>
        <p:nvSpPr>
          <p:cNvPr id="17" name="card"/>
          <p:cNvSpPr/>
          <p:nvPr/>
        </p:nvSpPr>
        <p:spPr>
          <a:xfrm>
            <a:off x="8101584" y="1737360"/>
            <a:ext cx="3383280" cy="32461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8" name="badge"/>
          <p:cNvSpPr/>
          <p:nvPr/>
        </p:nvSpPr>
        <p:spPr>
          <a:xfrm>
            <a:off x="8375904" y="2011680"/>
            <a:ext cx="457200" cy="457200"/>
          </a:xfrm>
          <a:prstGeom prst="ellipse">
            <a:avLst/>
          </a:prstGeom>
          <a:solidFill>
            <a:schemeClr val="accent1"/>
          </a:solidFill>
          <a:ln w="12700">
            <a:solidFill>
              <a:schemeClr val="accent1"/>
            </a:solidFill>
            <a:prstDash val="solid"/>
          </a:ln>
        </p:spPr>
      </p:sp>
      <p:sp>
        <p:nvSpPr>
          <p:cNvPr id="19" name="Text 16"/>
          <p:cNvSpPr txBox="1"/>
          <p:nvPr/>
        </p:nvSpPr>
        <p:spPr>
          <a:xfrm>
            <a:off x="8375904"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0" name="Text 17"/>
          <p:cNvSpPr txBox="1"/>
          <p:nvPr/>
        </p:nvSpPr>
        <p:spPr>
          <a:xfrm>
            <a:off x="8375904" y="2651760"/>
            <a:ext cx="288036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Unproven diagnoses are risky</a:t>
            </a:r>
            <a:endParaRPr lang="en-US" sz="2200" dirty="0"/>
          </a:p>
        </p:txBody>
      </p:sp>
      <p:sp>
        <p:nvSpPr>
          <p:cNvPr id="21" name="Text 18"/>
          <p:cNvSpPr txBox="1"/>
          <p:nvPr/>
        </p:nvSpPr>
        <p:spPr>
          <a:xfrm>
            <a:off x="8375904" y="3520440"/>
            <a:ext cx="2880360" cy="1371600"/>
          </a:xfrm>
          <a:prstGeom prst="rect">
            <a:avLst/>
          </a:prstGeom>
          <a:noFill/>
          <a:ln/>
        </p:spPr>
        <p:txBody>
          <a:bodyPr wrap="square" lIns="0" tIns="0" rIns="0" bIns="0" rtlCol="0" anchor="t"/>
          <a:lstStyle/>
          <a:p>
            <a:pPr indent="0" marL="0">
              <a:buNone/>
            </a:pPr>
            <a:r>
              <a:rPr lang="en-US" sz="1500" dirty="0">
                <a:solidFill>
                  <a:schemeClr val="tx2"/>
                </a:solidFill>
              </a:rPr>
              <a:t>An LLM can name a plausible cause with confidence. Without evidence a human can rerun, nobody should act on it.</a:t>
            </a:r>
            <a:endParaRPr lang="en-US" sz="1500" dirty="0"/>
          </a:p>
        </p:txBody>
      </p:sp>
      <p:sp>
        <p:nvSpPr>
          <p:cNvPr id="22" name="Text 19"/>
          <p:cNvSpPr txBox="1"/>
          <p:nvPr/>
        </p:nvSpPr>
        <p:spPr>
          <a:xfrm>
            <a:off x="548640" y="5303520"/>
            <a:ext cx="11064240" cy="685800"/>
          </a:xfrm>
          <a:prstGeom prst="rect">
            <a:avLst/>
          </a:prstGeom>
          <a:noFill/>
          <a:ln/>
        </p:spPr>
        <p:txBody>
          <a:bodyPr wrap="square" lIns="0" tIns="0" rIns="0" bIns="0" rtlCol="0" anchor="t"/>
          <a:lstStyle/>
          <a:p>
            <a:pPr indent="0" marL="0">
              <a:buNone/>
            </a:pPr>
            <a:r>
              <a:rPr lang="en-US" sz="1800" i="1" dirty="0">
                <a:solidFill>
                  <a:schemeClr val="accent1"/>
                </a:solidFill>
              </a:rPr>
              <a:t>Opportunity: join telemetry, logs and the deployment diff to rank the responsible function, then confirm it with a test that fails now and passes once the cause is reverted.</a:t>
            </a:r>
            <a:endParaRPr lang="en-US" sz="18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WHERE WE STARTED</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We rebuilt v0 because it could not be measured</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840480"/>
                <a:gridCol w="3291840"/>
                <a:gridCol w="3931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v0 prototype</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failed</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v1 (this review)</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Incident question hard-coded the answer ("inspect /orders ... N+1")</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Circular: the diagnosis was given, not found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Query built only from telemetry, exceptions and diff</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Model saw 1 chunk, cut to 360 characters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The cause was rarely in front of the model</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Evidence packet + top-8 function-level candidates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Hashed bag-of-words over 44-line windows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20% file hit rate on its own question set</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AST chunks, BM25 + bge-small, call graph</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Fixed thresholds on one demo app</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No tenant attribution, misses slow faults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Per-route, per-process, change-aware robust z</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"Generated test" was a fixed string testing the fast path</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Could never confirm anything</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Test must fail on faulty code and pass on known-good code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25 questions about Sentinel's own code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No ground truth, no baseline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12 injected faults + 3 controls x 3 seeds, 6+ baselines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bl>
          </a:graphicData>
        </a:graphic>
      </p:graphicFrame>
      <p:sp>
        <p:nvSpPr>
          <p:cNvPr id="8" name="card"/>
          <p:cNvSpPr/>
          <p:nvPr/>
        </p:nvSpPr>
        <p:spPr>
          <a:xfrm>
            <a:off x="548640" y="4617720"/>
            <a:ext cx="544068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9" name="Text 5"/>
          <p:cNvSpPr txBox="1"/>
          <p:nvPr/>
        </p:nvSpPr>
        <p:spPr>
          <a:xfrm>
            <a:off x="777240" y="4782312"/>
            <a:ext cx="822960" cy="868680"/>
          </a:xfrm>
          <a:prstGeom prst="rect">
            <a:avLst/>
          </a:prstGeom>
          <a:noFill/>
          <a:ln/>
        </p:spPr>
        <p:txBody>
          <a:bodyPr wrap="square" lIns="0" tIns="0" rIns="0" bIns="0" rtlCol="0" anchor="ctr"/>
          <a:lstStyle/>
          <a:p>
            <a:pPr indent="0" marL="0">
              <a:buNone/>
            </a:pPr>
            <a:r>
              <a:rPr lang="en-US" sz="4000" b="1" dirty="0">
                <a:solidFill>
                  <a:srgbClr val="B5473A"/>
                </a:solidFill>
                <a:latin typeface="Cambria" pitchFamily="34" charset="0"/>
                <a:ea typeface="Cambria" pitchFamily="34" charset="-122"/>
                <a:cs typeface="Cambria" pitchFamily="34" charset="-120"/>
              </a:rPr>
              <a:t>3%</a:t>
            </a:r>
            <a:endParaRPr lang="en-US" sz="4000" dirty="0"/>
          </a:p>
        </p:txBody>
      </p:sp>
      <p:sp>
        <p:nvSpPr>
          <p:cNvPr id="10" name="Text 6"/>
          <p:cNvSpPr txBox="1"/>
          <p:nvPr/>
        </p:nvSpPr>
        <p:spPr>
          <a:xfrm>
            <a:off x="1828800" y="4800600"/>
            <a:ext cx="3977640" cy="502920"/>
          </a:xfrm>
          <a:prstGeom prst="rect">
            <a:avLst/>
          </a:prstGeom>
          <a:noFill/>
          <a:ln/>
        </p:spPr>
        <p:txBody>
          <a:bodyPr wrap="square" lIns="0" tIns="0" rIns="0" bIns="0" rtlCol="0" anchor="t"/>
          <a:lstStyle/>
          <a:p>
            <a:pPr indent="0" marL="0">
              <a:buNone/>
            </a:pPr>
            <a:r>
              <a:rPr lang="en-US" sz="1500" dirty="0">
                <a:solidFill>
                  <a:schemeClr val="tx1"/>
                </a:solidFill>
              </a:rPr>
              <a:t>v0 retriever: faulty function ranked first</a:t>
            </a:r>
            <a:endParaRPr lang="en-US" sz="1500" dirty="0"/>
          </a:p>
        </p:txBody>
      </p:sp>
      <p:sp>
        <p:nvSpPr>
          <p:cNvPr id="11" name="Text 7"/>
          <p:cNvSpPr txBox="1"/>
          <p:nvPr/>
        </p:nvSpPr>
        <p:spPr>
          <a:xfrm>
            <a:off x="1828800" y="5330952"/>
            <a:ext cx="3977640" cy="365760"/>
          </a:xfrm>
          <a:prstGeom prst="rect">
            <a:avLst/>
          </a:prstGeom>
          <a:noFill/>
          <a:ln/>
        </p:spPr>
        <p:txBody>
          <a:bodyPr wrap="square" lIns="0" tIns="0" rIns="0" bIns="0" rtlCol="0" anchor="t"/>
          <a:lstStyle/>
          <a:p>
            <a:pPr indent="0" marL="0">
              <a:buNone/>
            </a:pPr>
            <a:r>
              <a:rPr lang="en-US" sz="1100" dirty="0">
                <a:solidFill>
                  <a:schemeClr val="tx2"/>
                </a:solidFill>
              </a:rPr>
              <a:t>on the same incidents as v1, kept as a baseline</a:t>
            </a:r>
            <a:endParaRPr lang="en-US" sz="1100" dirty="0"/>
          </a:p>
        </p:txBody>
      </p:sp>
      <p:sp>
        <p:nvSpPr>
          <p:cNvPr id="12" name="card"/>
          <p:cNvSpPr/>
          <p:nvPr/>
        </p:nvSpPr>
        <p:spPr>
          <a:xfrm>
            <a:off x="6172200" y="4617720"/>
            <a:ext cx="544068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3" name="Text 9"/>
          <p:cNvSpPr txBox="1"/>
          <p:nvPr/>
        </p:nvSpPr>
        <p:spPr>
          <a:xfrm>
            <a:off x="6400800" y="4782312"/>
            <a:ext cx="1152144"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85%</a:t>
            </a:r>
            <a:endParaRPr lang="en-US" sz="4000" dirty="0"/>
          </a:p>
        </p:txBody>
      </p:sp>
      <p:sp>
        <p:nvSpPr>
          <p:cNvPr id="14" name="Text 10"/>
          <p:cNvSpPr txBox="1"/>
          <p:nvPr/>
        </p:nvSpPr>
        <p:spPr>
          <a:xfrm>
            <a:off x="7781544" y="4800600"/>
            <a:ext cx="3648456" cy="502920"/>
          </a:xfrm>
          <a:prstGeom prst="rect">
            <a:avLst/>
          </a:prstGeom>
          <a:noFill/>
          <a:ln/>
        </p:spPr>
        <p:txBody>
          <a:bodyPr wrap="square" lIns="0" tIns="0" rIns="0" bIns="0" rtlCol="0" anchor="t"/>
          <a:lstStyle/>
          <a:p>
            <a:pPr indent="0" marL="0">
              <a:buNone/>
            </a:pPr>
            <a:r>
              <a:rPr lang="en-US" sz="1500" dirty="0">
                <a:solidFill>
                  <a:schemeClr val="tx1"/>
                </a:solidFill>
              </a:rPr>
              <a:t>v1 hybrid tracer: faulty function ranked first</a:t>
            </a:r>
            <a:endParaRPr lang="en-US" sz="1500" dirty="0"/>
          </a:p>
        </p:txBody>
      </p:sp>
      <p:sp>
        <p:nvSpPr>
          <p:cNvPr id="15" name="Text 11"/>
          <p:cNvSpPr txBox="1"/>
          <p:nvPr/>
        </p:nvSpPr>
        <p:spPr>
          <a:xfrm>
            <a:off x="7781544" y="5330952"/>
            <a:ext cx="3648456" cy="365760"/>
          </a:xfrm>
          <a:prstGeom prst="rect">
            <a:avLst/>
          </a:prstGeom>
          <a:noFill/>
          <a:ln/>
        </p:spPr>
        <p:txBody>
          <a:bodyPr wrap="square" lIns="0" tIns="0" rIns="0" bIns="0" rtlCol="0" anchor="t"/>
          <a:lstStyle/>
          <a:p>
            <a:pPr indent="0" marL="0">
              <a:buNone/>
            </a:pPr>
            <a:r>
              <a:rPr lang="en-US" sz="1100" dirty="0">
                <a:solidFill>
                  <a:schemeClr val="tx2"/>
                </a:solidFill>
              </a:rPr>
              <a:t>33 detected fault runs, 3 seeds</a:t>
            </a:r>
            <a:endParaRPr lang="en-US" sz="11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OBJECTIVES</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Four objectives, one of them is restraint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45920"/>
            <a:ext cx="54406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badge"/>
          <p:cNvSpPr/>
          <p:nvPr/>
        </p:nvSpPr>
        <p:spPr>
          <a:xfrm>
            <a:off x="822960" y="192024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82296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463040" y="1920240"/>
            <a:ext cx="42976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Attribute</a:t>
            </a:r>
            <a:endParaRPr lang="en-US" sz="2000" dirty="0"/>
          </a:p>
        </p:txBody>
      </p:sp>
      <p:sp>
        <p:nvSpPr>
          <p:cNvPr id="11" name="Text 8"/>
          <p:cNvSpPr txBox="1"/>
          <p:nvPr/>
        </p:nvSpPr>
        <p:spPr>
          <a:xfrm>
            <a:off x="1463040" y="2395728"/>
            <a:ext cx="4297680" cy="914400"/>
          </a:xfrm>
          <a:prstGeom prst="rect">
            <a:avLst/>
          </a:prstGeom>
          <a:noFill/>
          <a:ln/>
        </p:spPr>
        <p:txBody>
          <a:bodyPr wrap="square" lIns="0" tIns="0" rIns="0" bIns="0" rtlCol="0" anchor="t"/>
          <a:lstStyle/>
          <a:p>
            <a:pPr indent="0" marL="0">
              <a:buNone/>
            </a:pPr>
            <a:r>
              <a:rPr lang="en-US" sz="1500" dirty="0">
                <a:solidFill>
                  <a:schemeClr val="tx2"/>
                </a:solidFill>
              </a:rPr>
              <a:t>Turn shared-server telemetry into an incident for one service, one route and one owner.</a:t>
            </a:r>
            <a:endParaRPr lang="en-US" sz="1500" dirty="0"/>
          </a:p>
        </p:txBody>
      </p:sp>
      <p:sp>
        <p:nvSpPr>
          <p:cNvPr id="12" name="card"/>
          <p:cNvSpPr/>
          <p:nvPr/>
        </p:nvSpPr>
        <p:spPr>
          <a:xfrm>
            <a:off x="6172200" y="1645920"/>
            <a:ext cx="54406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3" name="badge"/>
          <p:cNvSpPr/>
          <p:nvPr/>
        </p:nvSpPr>
        <p:spPr>
          <a:xfrm>
            <a:off x="6446520" y="192024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644652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7086600" y="1920240"/>
            <a:ext cx="42976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Trace</a:t>
            </a:r>
            <a:endParaRPr lang="en-US" sz="2000" dirty="0"/>
          </a:p>
        </p:txBody>
      </p:sp>
      <p:sp>
        <p:nvSpPr>
          <p:cNvPr id="16" name="Text 13"/>
          <p:cNvSpPr txBox="1"/>
          <p:nvPr/>
        </p:nvSpPr>
        <p:spPr>
          <a:xfrm>
            <a:off x="7086600" y="2395728"/>
            <a:ext cx="4297680" cy="914400"/>
          </a:xfrm>
          <a:prstGeom prst="rect">
            <a:avLst/>
          </a:prstGeom>
          <a:noFill/>
          <a:ln/>
        </p:spPr>
        <p:txBody>
          <a:bodyPr wrap="square" lIns="0" tIns="0" rIns="0" bIns="0" rtlCol="0" anchor="t"/>
          <a:lstStyle/>
          <a:p>
            <a:pPr indent="0" marL="0">
              <a:buNone/>
            </a:pPr>
            <a:r>
              <a:rPr lang="en-US" sz="1500" dirty="0">
                <a:solidFill>
                  <a:schemeClr val="tx2"/>
                </a:solidFill>
              </a:rPr>
              <a:t>Rank the functions of that service by evidence and name the most likely cause, with reasons.</a:t>
            </a:r>
            <a:endParaRPr lang="en-US" sz="1500" dirty="0"/>
          </a:p>
        </p:txBody>
      </p:sp>
      <p:sp>
        <p:nvSpPr>
          <p:cNvPr id="17" name="card"/>
          <p:cNvSpPr/>
          <p:nvPr/>
        </p:nvSpPr>
        <p:spPr>
          <a:xfrm>
            <a:off x="548640" y="3611880"/>
            <a:ext cx="54406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8" name="badge"/>
          <p:cNvSpPr/>
          <p:nvPr/>
        </p:nvSpPr>
        <p:spPr>
          <a:xfrm>
            <a:off x="822960" y="3886200"/>
            <a:ext cx="457200" cy="457200"/>
          </a:xfrm>
          <a:prstGeom prst="ellipse">
            <a:avLst/>
          </a:prstGeom>
          <a:solidFill>
            <a:schemeClr val="accent1"/>
          </a:solidFill>
          <a:ln w="12700">
            <a:solidFill>
              <a:schemeClr val="accent1"/>
            </a:solidFill>
            <a:prstDash val="solid"/>
          </a:ln>
        </p:spPr>
      </p:sp>
      <p:sp>
        <p:nvSpPr>
          <p:cNvPr id="19" name="Text 16"/>
          <p:cNvSpPr txBox="1"/>
          <p:nvPr/>
        </p:nvSpPr>
        <p:spPr>
          <a:xfrm>
            <a:off x="82296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0" name="Text 17"/>
          <p:cNvSpPr txBox="1"/>
          <p:nvPr/>
        </p:nvSpPr>
        <p:spPr>
          <a:xfrm>
            <a:off x="1463040" y="3886200"/>
            <a:ext cx="42976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Confirm</a:t>
            </a:r>
            <a:endParaRPr lang="en-US" sz="2000" dirty="0"/>
          </a:p>
        </p:txBody>
      </p:sp>
      <p:sp>
        <p:nvSpPr>
          <p:cNvPr id="21" name="Text 18"/>
          <p:cNvSpPr txBox="1"/>
          <p:nvPr/>
        </p:nvSpPr>
        <p:spPr>
          <a:xfrm>
            <a:off x="1463040" y="4361688"/>
            <a:ext cx="4297680" cy="914400"/>
          </a:xfrm>
          <a:prstGeom prst="rect">
            <a:avLst/>
          </a:prstGeom>
          <a:noFill/>
          <a:ln/>
        </p:spPr>
        <p:txBody>
          <a:bodyPr wrap="square" lIns="0" tIns="0" rIns="0" bIns="0" rtlCol="0" anchor="t"/>
          <a:lstStyle/>
          <a:p>
            <a:pPr indent="0" marL="0">
              <a:buNone/>
            </a:pPr>
            <a:r>
              <a:rPr lang="en-US" sz="1500" dirty="0">
                <a:solidFill>
                  <a:schemeClr val="tx2"/>
                </a:solidFill>
              </a:rPr>
              <a:t>Generate a test that fails on the deployed code and passes on the known-good code, in a sandbox.</a:t>
            </a:r>
            <a:endParaRPr lang="en-US" sz="1500" dirty="0"/>
          </a:p>
        </p:txBody>
      </p:sp>
      <p:sp>
        <p:nvSpPr>
          <p:cNvPr id="22" name="card"/>
          <p:cNvSpPr/>
          <p:nvPr/>
        </p:nvSpPr>
        <p:spPr>
          <a:xfrm>
            <a:off x="6172200" y="3611880"/>
            <a:ext cx="54406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3" name="badge"/>
          <p:cNvSpPr/>
          <p:nvPr/>
        </p:nvSpPr>
        <p:spPr>
          <a:xfrm>
            <a:off x="6446520" y="3886200"/>
            <a:ext cx="457200" cy="457200"/>
          </a:xfrm>
          <a:prstGeom prst="ellipse">
            <a:avLst/>
          </a:prstGeom>
          <a:solidFill>
            <a:schemeClr val="accent1"/>
          </a:solidFill>
          <a:ln w="12700">
            <a:solidFill>
              <a:schemeClr val="accent1"/>
            </a:solidFill>
            <a:prstDash val="solid"/>
          </a:ln>
        </p:spPr>
      </p:sp>
      <p:sp>
        <p:nvSpPr>
          <p:cNvPr id="24" name="Text 21"/>
          <p:cNvSpPr txBox="1"/>
          <p:nvPr/>
        </p:nvSpPr>
        <p:spPr>
          <a:xfrm>
            <a:off x="644652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5" name="Text 22"/>
          <p:cNvSpPr txBox="1"/>
          <p:nvPr/>
        </p:nvSpPr>
        <p:spPr>
          <a:xfrm>
            <a:off x="7086600" y="3886200"/>
            <a:ext cx="42976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Restrain</a:t>
            </a:r>
            <a:endParaRPr lang="en-US" sz="2000" dirty="0"/>
          </a:p>
        </p:txBody>
      </p:sp>
      <p:sp>
        <p:nvSpPr>
          <p:cNvPr id="26" name="Text 23"/>
          <p:cNvSpPr txBox="1"/>
          <p:nvPr/>
        </p:nvSpPr>
        <p:spPr>
          <a:xfrm>
            <a:off x="7086600" y="4361688"/>
            <a:ext cx="4297680" cy="914400"/>
          </a:xfrm>
          <a:prstGeom prst="rect">
            <a:avLst/>
          </a:prstGeom>
          <a:noFill/>
          <a:ln/>
        </p:spPr>
        <p:txBody>
          <a:bodyPr wrap="square" lIns="0" tIns="0" rIns="0" bIns="0" rtlCol="0" anchor="t"/>
          <a:lstStyle/>
          <a:p>
            <a:pPr indent="0" marL="0">
              <a:buNone/>
            </a:pPr>
            <a:r>
              <a:rPr lang="en-US" sz="1500" dirty="0">
                <a:solidFill>
                  <a:schemeClr val="tx2"/>
                </a:solidFill>
              </a:rPr>
              <a:t>No code evidence means no code fix: recommend capacity or investigation instead; a human approves anything.</a:t>
            </a:r>
            <a:endParaRPr lang="en-US" sz="1500" dirty="0"/>
          </a:p>
        </p:txBody>
      </p:sp>
      <p:sp>
        <p:nvSpPr>
          <p:cNvPr id="27" name="card"/>
          <p:cNvSpPr/>
          <p:nvPr/>
        </p:nvSpPr>
        <p:spPr>
          <a:xfrm>
            <a:off x="548640" y="5623560"/>
            <a:ext cx="11064240" cy="548640"/>
          </a:xfrm>
          <a:prstGeom prst="rect">
            <a:avLst/>
          </a:prstGeom>
          <a:solidFill>
            <a:schemeClr val="accent4"/>
          </a:solidFill>
          <a:ln w="9525">
            <a:solidFill>
              <a:schemeClr val="accent4"/>
            </a:solidFill>
            <a:prstDash val="solid"/>
          </a:ln>
        </p:spPr>
      </p:sp>
      <p:sp>
        <p:nvSpPr>
          <p:cNvPr id="28" name="Text 25"/>
          <p:cNvSpPr txBox="1"/>
          <p:nvPr/>
        </p:nvSpPr>
        <p:spPr>
          <a:xfrm>
            <a:off x="777240" y="5623560"/>
            <a:ext cx="10698480" cy="548640"/>
          </a:xfrm>
          <a:prstGeom prst="rect">
            <a:avLst/>
          </a:prstGeom>
          <a:noFill/>
          <a:ln/>
        </p:spPr>
        <p:txBody>
          <a:bodyPr wrap="square" lIns="0" tIns="0" rIns="0" bIns="0" rtlCol="0" anchor="ctr"/>
          <a:lstStyle/>
          <a:p>
            <a:pPr indent="0" marL="0">
              <a:buNone/>
            </a:pPr>
            <a:r>
              <a:rPr lang="en-US" sz="1400" dirty="0">
                <a:solidFill>
                  <a:schemeClr val="tx1"/>
                </a:solidFill>
              </a:rPr>
              <a:t>Owners:  P1 Akash  steps 1-2 detection   |   P2 Aryan  steps 3-5 tracing   |   P3 Syna  step 6 tests + evaluation</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TEAM RESPONSIBILITIES</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Who built and presents what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00200"/>
            <a:ext cx="3383280" cy="41605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Shape 5"/>
          <p:cNvSpPr/>
          <p:nvPr/>
        </p:nvSpPr>
        <p:spPr>
          <a:xfrm>
            <a:off x="822960" y="1783080"/>
            <a:ext cx="1371600" cy="347472"/>
          </a:xfrm>
          <a:prstGeom prst="roundRect">
            <a:avLst>
              <a:gd name="adj" fmla="val 50000"/>
            </a:avLst>
          </a:prstGeom>
          <a:solidFill>
            <a:schemeClr val="accent1"/>
          </a:solidFill>
          <a:ln w="12700">
            <a:solidFill>
              <a:schemeClr val="accent1"/>
            </a:solidFill>
            <a:prstDash val="solid"/>
          </a:ln>
        </p:spPr>
      </p:sp>
      <p:sp>
        <p:nvSpPr>
          <p:cNvPr id="9" name="Text 6"/>
          <p:cNvSpPr txBox="1"/>
          <p:nvPr/>
        </p:nvSpPr>
        <p:spPr>
          <a:xfrm>
            <a:off x="822960" y="1783080"/>
            <a:ext cx="1371600" cy="347472"/>
          </a:xfrm>
          <a:prstGeom prst="rect">
            <a:avLst/>
          </a:prstGeom>
          <a:noFill/>
          <a:ln/>
        </p:spPr>
        <p:txBody>
          <a:bodyPr wrap="square" lIns="0" tIns="0" rIns="0" bIns="0" rtlCol="0" anchor="ctr"/>
          <a:lstStyle/>
          <a:p>
            <a:pPr algn="ctr" indent="0" marL="0">
              <a:buNone/>
            </a:pPr>
            <a:r>
              <a:rPr lang="en-US" sz="1300" b="1" dirty="0">
                <a:solidFill>
                  <a:schemeClr val="bg1"/>
                </a:solidFill>
              </a:rPr>
              <a:t>P1  Akash</a:t>
            </a:r>
            <a:endParaRPr lang="en-US" sz="1300" dirty="0"/>
          </a:p>
        </p:txBody>
      </p:sp>
      <p:sp>
        <p:nvSpPr>
          <p:cNvPr id="10" name="Text 7"/>
          <p:cNvSpPr txBox="1"/>
          <p:nvPr/>
        </p:nvSpPr>
        <p:spPr>
          <a:xfrm>
            <a:off x="822960" y="2286000"/>
            <a:ext cx="28803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Steps 1-2: see and attribute</a:t>
            </a:r>
            <a:endParaRPr lang="en-US" sz="1800" dirty="0"/>
          </a:p>
        </p:txBody>
      </p:sp>
      <p:sp>
        <p:nvSpPr>
          <p:cNvPr id="11" name="Text 8"/>
          <p:cNvSpPr txBox="1"/>
          <p:nvPr/>
        </p:nvSpPr>
        <p:spPr>
          <a:xfrm>
            <a:off x="822960" y="2788920"/>
            <a:ext cx="288036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Telemetry middleware and collector</a:t>
            </a:r>
            <a:endParaRPr lang="en-US" sz="1400" dirty="0"/>
          </a:p>
          <a:p>
            <a:pPr marL="203200" indent="-203200">
              <a:spcAft>
                <a:spcPts val="600"/>
              </a:spcAft>
              <a:buSzPct val="100000"/>
              <a:buChar char="•"/>
            </a:pPr>
            <a:r>
              <a:rPr lang="en-US" sz="1400" dirty="0">
                <a:solidFill>
                  <a:schemeClr val="tx1"/>
                </a:solidFill>
              </a:rPr>
              <a:t>Service registry (services.yaml)</a:t>
            </a:r>
            <a:endParaRPr lang="en-US" sz="1400" dirty="0"/>
          </a:p>
          <a:p>
            <a:pPr marL="203200" indent="-203200">
              <a:spcAft>
                <a:spcPts val="600"/>
              </a:spcAft>
              <a:buSzPct val="100000"/>
              <a:buChar char="•"/>
            </a:pPr>
            <a:r>
              <a:rPr lang="en-US" sz="1400" dirty="0">
                <a:solidFill>
                  <a:schemeClr val="tx1"/>
                </a:solidFill>
              </a:rPr>
              <a:t>Robust detector + threshold baseline</a:t>
            </a:r>
            <a:endParaRPr lang="en-US" sz="1400" dirty="0"/>
          </a:p>
          <a:p>
            <a:pPr marL="203200" indent="-203200">
              <a:spcAft>
                <a:spcPts val="600"/>
              </a:spcAft>
              <a:buSzPct val="100000"/>
              <a:buChar char="•"/>
            </a:pPr>
            <a:r>
              <a:rPr lang="en-US" sz="1400" dirty="0">
                <a:solidFill>
                  <a:schemeClr val="tx1"/>
                </a:solidFill>
              </a:rPr>
              <a:t>Load generator and live recorder</a:t>
            </a:r>
            <a:endParaRPr lang="en-US" sz="1400" dirty="0"/>
          </a:p>
          <a:p>
            <a:pPr marL="203200" indent="-203200">
              <a:spcAft>
                <a:spcPts val="600"/>
              </a:spcAft>
              <a:buSzPct val="100000"/>
              <a:buChar char="•"/>
            </a:pPr>
            <a:r>
              <a:rPr lang="en-US" sz="1400" dirty="0">
                <a:solidFill>
                  <a:schemeClr val="tx1"/>
                </a:solidFill>
              </a:rPr>
              <a:t>Results: detection, false alarms</a:t>
            </a:r>
            <a:endParaRPr lang="en-US" sz="1400" dirty="0"/>
          </a:p>
        </p:txBody>
      </p:sp>
      <p:sp>
        <p:nvSpPr>
          <p:cNvPr id="12" name="Text 9"/>
          <p:cNvSpPr txBox="1"/>
          <p:nvPr/>
        </p:nvSpPr>
        <p:spPr>
          <a:xfrm>
            <a:off x="822960" y="5074920"/>
            <a:ext cx="2880360" cy="548640"/>
          </a:xfrm>
          <a:prstGeom prst="rect">
            <a:avLst/>
          </a:prstGeom>
          <a:noFill/>
          <a:ln/>
        </p:spPr>
        <p:txBody>
          <a:bodyPr wrap="square" lIns="0" tIns="0" rIns="0" bIns="0" rtlCol="0" anchor="t"/>
          <a:lstStyle/>
          <a:p>
            <a:pPr indent="0" marL="0">
              <a:buNone/>
            </a:pPr>
            <a:r>
              <a:rPr lang="en-US" sz="1000" dirty="0">
                <a:solidFill>
                  <a:schemeClr val="tx2"/>
                </a:solidFill>
                <a:latin typeface="Courier New" pitchFamily="34" charset="0"/>
                <a:ea typeface="Courier New" pitchFamily="34" charset="-122"/>
                <a:cs typeface="Courier New" pitchFamily="34" charset="-120"/>
              </a:rPr>
              <a:t>common/telemetry.py, sentinel/telemetry.py, registry.py, detection.py</a:t>
            </a:r>
            <a:endParaRPr lang="en-US" sz="1000" dirty="0"/>
          </a:p>
        </p:txBody>
      </p:sp>
      <p:sp>
        <p:nvSpPr>
          <p:cNvPr id="13" name="card"/>
          <p:cNvSpPr/>
          <p:nvPr/>
        </p:nvSpPr>
        <p:spPr>
          <a:xfrm>
            <a:off x="4325112" y="1600200"/>
            <a:ext cx="3383280" cy="41605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Shape 11"/>
          <p:cNvSpPr/>
          <p:nvPr/>
        </p:nvSpPr>
        <p:spPr>
          <a:xfrm>
            <a:off x="4599432" y="1783080"/>
            <a:ext cx="1371600" cy="347472"/>
          </a:xfrm>
          <a:prstGeom prst="roundRect">
            <a:avLst>
              <a:gd name="adj" fmla="val 50000"/>
            </a:avLst>
          </a:prstGeom>
          <a:solidFill>
            <a:schemeClr val="accent2"/>
          </a:solidFill>
          <a:ln w="12700">
            <a:solidFill>
              <a:schemeClr val="accent2"/>
            </a:solidFill>
            <a:prstDash val="solid"/>
          </a:ln>
        </p:spPr>
      </p:sp>
      <p:sp>
        <p:nvSpPr>
          <p:cNvPr id="15" name="Text 12"/>
          <p:cNvSpPr txBox="1"/>
          <p:nvPr/>
        </p:nvSpPr>
        <p:spPr>
          <a:xfrm>
            <a:off x="4599432" y="1783080"/>
            <a:ext cx="1371600" cy="347472"/>
          </a:xfrm>
          <a:prstGeom prst="rect">
            <a:avLst/>
          </a:prstGeom>
          <a:noFill/>
          <a:ln/>
        </p:spPr>
        <p:txBody>
          <a:bodyPr wrap="square" lIns="0" tIns="0" rIns="0" bIns="0" rtlCol="0" anchor="ctr"/>
          <a:lstStyle/>
          <a:p>
            <a:pPr algn="ctr" indent="0" marL="0">
              <a:buNone/>
            </a:pPr>
            <a:r>
              <a:rPr lang="en-US" sz="1300" b="1" dirty="0">
                <a:solidFill>
                  <a:schemeClr val="tx1"/>
                </a:solidFill>
              </a:rPr>
              <a:t>P2  Aryan</a:t>
            </a:r>
            <a:endParaRPr lang="en-US" sz="1300" dirty="0"/>
          </a:p>
        </p:txBody>
      </p:sp>
      <p:sp>
        <p:nvSpPr>
          <p:cNvPr id="16" name="Text 13"/>
          <p:cNvSpPr txBox="1"/>
          <p:nvPr/>
        </p:nvSpPr>
        <p:spPr>
          <a:xfrm>
            <a:off x="4599432" y="2286000"/>
            <a:ext cx="28803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Steps 3-5: explain</a:t>
            </a:r>
            <a:endParaRPr lang="en-US" sz="1800" dirty="0"/>
          </a:p>
        </p:txBody>
      </p:sp>
      <p:sp>
        <p:nvSpPr>
          <p:cNvPr id="17" name="Text 14"/>
          <p:cNvSpPr txBox="1"/>
          <p:nvPr/>
        </p:nvSpPr>
        <p:spPr>
          <a:xfrm>
            <a:off x="4599432" y="2788920"/>
            <a:ext cx="288036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Evidence packet, git diff + blame, behavioural diff</a:t>
            </a:r>
            <a:endParaRPr lang="en-US" sz="1400" dirty="0"/>
          </a:p>
          <a:p>
            <a:pPr marL="203200" indent="-203200">
              <a:spcAft>
                <a:spcPts val="600"/>
              </a:spcAft>
              <a:buSzPct val="100000"/>
              <a:buChar char="•"/>
            </a:pPr>
            <a:r>
              <a:rPr lang="en-US" sz="1400" dirty="0">
                <a:solidFill>
                  <a:schemeClr val="tx1"/>
                </a:solidFill>
              </a:rPr>
              <a:t>AST index, BM25, embeddings, call graph</a:t>
            </a:r>
            <a:endParaRPr lang="en-US" sz="1400" dirty="0"/>
          </a:p>
          <a:p>
            <a:pPr marL="203200" indent="-203200">
              <a:spcAft>
                <a:spcPts val="600"/>
              </a:spcAft>
              <a:buSzPct val="100000"/>
              <a:buChar char="•"/>
            </a:pPr>
            <a:r>
              <a:rPr lang="en-US" sz="1400" dirty="0">
                <a:solidFill>
                  <a:schemeClr val="tx1"/>
                </a:solidFill>
              </a:rPr>
              <a:t>Hybrid tracer, LLM re-rank, action decision</a:t>
            </a:r>
            <a:endParaRPr lang="en-US" sz="1400" dirty="0"/>
          </a:p>
          <a:p>
            <a:pPr marL="203200" indent="-203200">
              <a:spcAft>
                <a:spcPts val="600"/>
              </a:spcAft>
              <a:buSzPct val="100000"/>
              <a:buChar char="•"/>
            </a:pPr>
            <a:r>
              <a:rPr lang="en-US" sz="1400" dirty="0">
                <a:solidFill>
                  <a:schemeClr val="tx1"/>
                </a:solidFill>
              </a:rPr>
              <a:t>Results: localisation, ablations, 2 LLMs</a:t>
            </a:r>
            <a:endParaRPr lang="en-US" sz="1400" dirty="0"/>
          </a:p>
        </p:txBody>
      </p:sp>
      <p:sp>
        <p:nvSpPr>
          <p:cNvPr id="18" name="Text 15"/>
          <p:cNvSpPr txBox="1"/>
          <p:nvPr/>
        </p:nvSpPr>
        <p:spPr>
          <a:xfrm>
            <a:off x="4599432" y="5074920"/>
            <a:ext cx="2880360" cy="548640"/>
          </a:xfrm>
          <a:prstGeom prst="rect">
            <a:avLst/>
          </a:prstGeom>
          <a:noFill/>
          <a:ln/>
        </p:spPr>
        <p:txBody>
          <a:bodyPr wrap="square" lIns="0" tIns="0" rIns="0" bIns="0" rtlCol="0" anchor="t"/>
          <a:lstStyle/>
          <a:p>
            <a:pPr indent="0" marL="0">
              <a:buNone/>
            </a:pPr>
            <a:r>
              <a:rPr lang="en-US" sz="1000" dirty="0">
                <a:solidFill>
                  <a:schemeClr val="tx2"/>
                </a:solidFill>
                <a:latin typeface="Courier New" pitchFamily="34" charset="0"/>
                <a:ea typeface="Courier New" pitchFamily="34" charset="-122"/>
                <a:cs typeface="Courier New" pitchFamily="34" charset="-120"/>
              </a:rPr>
              <a:t>sentinel/context.py, indexing.py, tracing.py</a:t>
            </a:r>
            <a:endParaRPr lang="en-US" sz="1000" dirty="0"/>
          </a:p>
        </p:txBody>
      </p:sp>
      <p:sp>
        <p:nvSpPr>
          <p:cNvPr id="19" name="card"/>
          <p:cNvSpPr/>
          <p:nvPr/>
        </p:nvSpPr>
        <p:spPr>
          <a:xfrm>
            <a:off x="8101584" y="1600200"/>
            <a:ext cx="3383280" cy="41605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0" name="Shape 17"/>
          <p:cNvSpPr/>
          <p:nvPr/>
        </p:nvSpPr>
        <p:spPr>
          <a:xfrm>
            <a:off x="8375904" y="1783080"/>
            <a:ext cx="1371600" cy="347472"/>
          </a:xfrm>
          <a:prstGeom prst="roundRect">
            <a:avLst>
              <a:gd name="adj" fmla="val 50000"/>
            </a:avLst>
          </a:prstGeom>
          <a:solidFill>
            <a:schemeClr val="accent3"/>
          </a:solidFill>
          <a:ln w="12700">
            <a:solidFill>
              <a:schemeClr val="accent3"/>
            </a:solidFill>
            <a:prstDash val="solid"/>
          </a:ln>
        </p:spPr>
      </p:sp>
      <p:sp>
        <p:nvSpPr>
          <p:cNvPr id="21" name="Text 18"/>
          <p:cNvSpPr txBox="1"/>
          <p:nvPr/>
        </p:nvSpPr>
        <p:spPr>
          <a:xfrm>
            <a:off x="8375904" y="1783080"/>
            <a:ext cx="1371600" cy="347472"/>
          </a:xfrm>
          <a:prstGeom prst="rect">
            <a:avLst/>
          </a:prstGeom>
          <a:noFill/>
          <a:ln/>
        </p:spPr>
        <p:txBody>
          <a:bodyPr wrap="square" lIns="0" tIns="0" rIns="0" bIns="0" rtlCol="0" anchor="ctr"/>
          <a:lstStyle/>
          <a:p>
            <a:pPr algn="ctr" indent="0" marL="0">
              <a:buNone/>
            </a:pPr>
            <a:r>
              <a:rPr lang="en-US" sz="1300" b="1" dirty="0">
                <a:solidFill>
                  <a:schemeClr val="bg1"/>
                </a:solidFill>
              </a:rPr>
              <a:t>P3  Syna</a:t>
            </a:r>
            <a:endParaRPr lang="en-US" sz="1300" dirty="0"/>
          </a:p>
        </p:txBody>
      </p:sp>
      <p:sp>
        <p:nvSpPr>
          <p:cNvPr id="22" name="Text 19"/>
          <p:cNvSpPr txBox="1"/>
          <p:nvPr/>
        </p:nvSpPr>
        <p:spPr>
          <a:xfrm>
            <a:off x="8375904" y="2286000"/>
            <a:ext cx="28803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Step 6 + evaluation: prove</a:t>
            </a:r>
            <a:endParaRPr lang="en-US" sz="1800" dirty="0"/>
          </a:p>
        </p:txBody>
      </p:sp>
      <p:sp>
        <p:nvSpPr>
          <p:cNvPr id="23" name="Text 20"/>
          <p:cNvSpPr txBox="1"/>
          <p:nvPr/>
        </p:nvSpPr>
        <p:spPr>
          <a:xfrm>
            <a:off x="8375904" y="2788920"/>
            <a:ext cx="288036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Template and LLM test generators</a:t>
            </a:r>
            <a:endParaRPr lang="en-US" sz="1400" dirty="0"/>
          </a:p>
          <a:p>
            <a:pPr marL="203200" indent="-203200">
              <a:spcAft>
                <a:spcPts val="600"/>
              </a:spcAft>
              <a:buSzPct val="100000"/>
              <a:buChar char="•"/>
            </a:pPr>
            <a:r>
              <a:rPr lang="en-US" sz="1400" dirty="0">
                <a:solidFill>
                  <a:schemeClr val="tx1"/>
                </a:solidFill>
              </a:rPr>
              <a:t>Test guard and sandbox (fail faulty, pass good)</a:t>
            </a:r>
            <a:endParaRPr lang="en-US" sz="1400" dirty="0"/>
          </a:p>
          <a:p>
            <a:pPr marL="203200" indent="-203200">
              <a:spcAft>
                <a:spcPts val="600"/>
              </a:spcAft>
              <a:buSzPct val="100000"/>
              <a:buChar char="•"/>
            </a:pPr>
            <a:r>
              <a:rPr lang="en-US" sz="1400" dirty="0">
                <a:solidFill>
                  <a:schemeClr val="tx1"/>
                </a:solidFill>
              </a:rPr>
              <a:t>LLM client: OpenAI / Groq, cache</a:t>
            </a:r>
            <a:endParaRPr lang="en-US" sz="1400" dirty="0"/>
          </a:p>
          <a:p>
            <a:pPr marL="203200" indent="-203200">
              <a:spcAft>
                <a:spcPts val="600"/>
              </a:spcAft>
              <a:buSzPct val="100000"/>
              <a:buChar char="•"/>
            </a:pPr>
            <a:r>
              <a:rPr lang="en-US" sz="1400" dirty="0">
                <a:solidFill>
                  <a:schemeClr val="tx1"/>
                </a:solidFill>
              </a:rPr>
              <a:t>Fault catalog, benchmark harness, scoring</a:t>
            </a:r>
            <a:endParaRPr lang="en-US" sz="1400" dirty="0"/>
          </a:p>
          <a:p>
            <a:pPr marL="203200" indent="-203200">
              <a:spcAft>
                <a:spcPts val="600"/>
              </a:spcAft>
              <a:buSzPct val="100000"/>
              <a:buChar char="•"/>
            </a:pPr>
            <a:r>
              <a:rPr lang="en-US" sz="1400" dirty="0">
                <a:solidFill>
                  <a:schemeClr val="tx1"/>
                </a:solidFill>
              </a:rPr>
              <a:t>Results: confirming tests, actions</a:t>
            </a:r>
            <a:endParaRPr lang="en-US" sz="1400" dirty="0"/>
          </a:p>
        </p:txBody>
      </p:sp>
      <p:sp>
        <p:nvSpPr>
          <p:cNvPr id="24" name="Text 21"/>
          <p:cNvSpPr txBox="1"/>
          <p:nvPr/>
        </p:nvSpPr>
        <p:spPr>
          <a:xfrm>
            <a:off x="8375904" y="5074920"/>
            <a:ext cx="2880360" cy="548640"/>
          </a:xfrm>
          <a:prstGeom prst="rect">
            <a:avLst/>
          </a:prstGeom>
          <a:noFill/>
          <a:ln/>
        </p:spPr>
        <p:txBody>
          <a:bodyPr wrap="square" lIns="0" tIns="0" rIns="0" bIns="0" rtlCol="0" anchor="t"/>
          <a:lstStyle/>
          <a:p>
            <a:pPr indent="0" marL="0">
              <a:buNone/>
            </a:pPr>
            <a:r>
              <a:rPr lang="en-US" sz="1000" dirty="0">
                <a:solidFill>
                  <a:schemeClr val="tx2"/>
                </a:solidFill>
                <a:latin typeface="Courier New" pitchFamily="34" charset="0"/>
                <a:ea typeface="Courier New" pitchFamily="34" charset="-122"/>
                <a:cs typeface="Courier New" pitchFamily="34" charset="-120"/>
              </a:rPr>
              <a:t>sentinel/testgen.py, llm.py, benchmark/, evaluation/</a:t>
            </a:r>
            <a:endParaRPr lang="en-US" sz="1000" dirty="0"/>
          </a:p>
        </p:txBody>
      </p:sp>
      <p:sp>
        <p:nvSpPr>
          <p:cNvPr id="25" name="card"/>
          <p:cNvSpPr/>
          <p:nvPr/>
        </p:nvSpPr>
        <p:spPr>
          <a:xfrm>
            <a:off x="548640" y="5897880"/>
            <a:ext cx="11064240" cy="384048"/>
          </a:xfrm>
          <a:prstGeom prst="rect">
            <a:avLst/>
          </a:prstGeom>
          <a:solidFill>
            <a:schemeClr val="accent4"/>
          </a:solidFill>
          <a:ln w="9525">
            <a:solidFill>
              <a:schemeClr val="accent4"/>
            </a:solidFill>
            <a:prstDash val="solid"/>
          </a:ln>
        </p:spPr>
      </p:sp>
      <p:sp>
        <p:nvSpPr>
          <p:cNvPr id="26" name="Text 23"/>
          <p:cNvSpPr txBox="1"/>
          <p:nvPr/>
        </p:nvSpPr>
        <p:spPr>
          <a:xfrm>
            <a:off x="777240" y="5897880"/>
            <a:ext cx="10607040" cy="384048"/>
          </a:xfrm>
          <a:prstGeom prst="rect">
            <a:avLst/>
          </a:prstGeom>
          <a:noFill/>
          <a:ln/>
        </p:spPr>
        <p:txBody>
          <a:bodyPr wrap="square" lIns="0" tIns="0" rIns="0" bIns="0" rtlCol="0" anchor="ctr"/>
          <a:lstStyle/>
          <a:p>
            <a:pPr indent="0" marL="0">
              <a:buNone/>
            </a:pPr>
            <a:r>
              <a:rPr lang="en-US" sz="1300" dirty="0">
                <a:solidFill>
                  <a:schemeClr val="tx1"/>
                </a:solidFill>
              </a:rPr>
              <a:t>Shared: audit trail, guardrails, pipeline wiring, docs. Every member can run python -m benchmark.demo F01 and explain each step.</a:t>
            </a:r>
            <a:endParaRPr lang="en-US" sz="13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RESEARCH QUESTION</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Research question</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508760"/>
            <a:ext cx="11064240" cy="1417320"/>
          </a:xfrm>
          <a:prstGeom prst="rect">
            <a:avLst/>
          </a:prstGeom>
          <a:solidFill>
            <a:schemeClr val="tx1"/>
          </a:solidFill>
          <a:ln w="9525">
            <a:solidFill>
              <a:schemeClr val="tx1"/>
            </a:solidFill>
            <a:prstDash val="solid"/>
          </a:ln>
        </p:spPr>
      </p:sp>
      <p:sp>
        <p:nvSpPr>
          <p:cNvPr id="8" name="Text 5"/>
          <p:cNvSpPr txBox="1"/>
          <p:nvPr/>
        </p:nvSpPr>
        <p:spPr>
          <a:xfrm>
            <a:off x="914400" y="1508760"/>
            <a:ext cx="10332720" cy="1417320"/>
          </a:xfrm>
          <a:prstGeom prst="rect">
            <a:avLst/>
          </a:prstGeom>
          <a:noFill/>
          <a:ln/>
        </p:spPr>
        <p:txBody>
          <a:bodyPr wrap="square" lIns="0" tIns="0" rIns="0" bIns="0" rtlCol="0" anchor="ctr"/>
          <a:lstStyle/>
          <a:p>
            <a:pPr indent="0" marL="0">
              <a:buNone/>
            </a:pPr>
            <a:r>
              <a:rPr lang="en-US" sz="2100" dirty="0">
                <a:solidFill>
                  <a:schemeClr val="bg1"/>
                </a:solidFill>
                <a:latin typeface="Cambria" pitchFamily="34" charset="0"/>
                <a:ea typeface="Cambria" pitchFamily="34" charset="-122"/>
                <a:cs typeface="Cambria" pitchFamily="34" charset="-120"/>
              </a:rPr>
              <a:t>On a shared server, can telemetry-grounded hybrid code retrieval, with an LLM, trace a runtime incident to the responsible function and confirm it with a generated test, better than the naive alternatives: fixed alerts, blaming the latest deployment, plain vector RAG, or scaling?</a:t>
            </a:r>
            <a:endParaRPr lang="en-US" sz="2100" dirty="0"/>
          </a:p>
        </p:txBody>
      </p:sp>
      <p:sp>
        <p:nvSpPr>
          <p:cNvPr id="9" name="card"/>
          <p:cNvSpPr/>
          <p:nvPr/>
        </p:nvSpPr>
        <p:spPr>
          <a:xfrm>
            <a:off x="548640" y="3154680"/>
            <a:ext cx="33832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0" name="Shape 7"/>
          <p:cNvSpPr/>
          <p:nvPr/>
        </p:nvSpPr>
        <p:spPr>
          <a:xfrm>
            <a:off x="777240" y="3291840"/>
            <a:ext cx="685800" cy="292608"/>
          </a:xfrm>
          <a:prstGeom prst="roundRect">
            <a:avLst>
              <a:gd name="adj" fmla="val 50000"/>
            </a:avLst>
          </a:prstGeom>
          <a:solidFill>
            <a:schemeClr val="accent1"/>
          </a:solidFill>
          <a:ln w="12700">
            <a:solidFill>
              <a:schemeClr val="accent1"/>
            </a:solidFill>
            <a:prstDash val="solid"/>
          </a:ln>
        </p:spPr>
      </p:sp>
      <p:sp>
        <p:nvSpPr>
          <p:cNvPr id="11" name="Text 8"/>
          <p:cNvSpPr txBox="1"/>
          <p:nvPr/>
        </p:nvSpPr>
        <p:spPr>
          <a:xfrm>
            <a:off x="777240" y="3291840"/>
            <a:ext cx="685800" cy="292608"/>
          </a:xfrm>
          <a:prstGeom prst="rect">
            <a:avLst/>
          </a:prstGeom>
          <a:noFill/>
          <a:ln/>
        </p:spPr>
        <p:txBody>
          <a:bodyPr wrap="square" lIns="0" tIns="0" rIns="0" bIns="0" rtlCol="0" anchor="ctr"/>
          <a:lstStyle/>
          <a:p>
            <a:pPr algn="ctr" indent="0" marL="0">
              <a:buNone/>
            </a:pPr>
            <a:r>
              <a:rPr lang="en-US" sz="1200" b="1" dirty="0">
                <a:solidFill>
                  <a:schemeClr val="bg1"/>
                </a:solidFill>
              </a:rPr>
              <a:t>P1</a:t>
            </a:r>
            <a:endParaRPr lang="en-US" sz="1200" dirty="0"/>
          </a:p>
        </p:txBody>
      </p:sp>
      <p:sp>
        <p:nvSpPr>
          <p:cNvPr id="12" name="Text 9"/>
          <p:cNvSpPr txBox="1"/>
          <p:nvPr/>
        </p:nvSpPr>
        <p:spPr>
          <a:xfrm>
            <a:off x="777240" y="3657600"/>
            <a:ext cx="2971800" cy="1234440"/>
          </a:xfrm>
          <a:prstGeom prst="rect">
            <a:avLst/>
          </a:prstGeom>
          <a:noFill/>
          <a:ln/>
        </p:spPr>
        <p:txBody>
          <a:bodyPr wrap="square" lIns="0" tIns="0" rIns="0" bIns="0" rtlCol="0" anchor="t"/>
          <a:lstStyle/>
          <a:p>
            <a:pPr indent="0" marL="0">
              <a:buNone/>
            </a:pPr>
            <a:r>
              <a:rPr lang="en-US" sz="1400" dirty="0">
                <a:solidFill>
                  <a:schemeClr val="tx1"/>
                </a:solidFill>
              </a:rPr>
              <a:t>Does a change-aware robust detector name the right tenant more often than fixed thresholds, without more false alarms?</a:t>
            </a:r>
            <a:endParaRPr lang="en-US" sz="1400" dirty="0"/>
          </a:p>
        </p:txBody>
      </p:sp>
      <p:sp>
        <p:nvSpPr>
          <p:cNvPr id="13" name="card"/>
          <p:cNvSpPr/>
          <p:nvPr/>
        </p:nvSpPr>
        <p:spPr>
          <a:xfrm>
            <a:off x="4325112" y="3154680"/>
            <a:ext cx="33832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Shape 11"/>
          <p:cNvSpPr/>
          <p:nvPr/>
        </p:nvSpPr>
        <p:spPr>
          <a:xfrm>
            <a:off x="4553712" y="3291840"/>
            <a:ext cx="685800" cy="292608"/>
          </a:xfrm>
          <a:prstGeom prst="roundRect">
            <a:avLst>
              <a:gd name="adj" fmla="val 50000"/>
            </a:avLst>
          </a:prstGeom>
          <a:solidFill>
            <a:schemeClr val="accent2"/>
          </a:solidFill>
          <a:ln w="12700">
            <a:solidFill>
              <a:schemeClr val="accent2"/>
            </a:solidFill>
            <a:prstDash val="solid"/>
          </a:ln>
        </p:spPr>
      </p:sp>
      <p:sp>
        <p:nvSpPr>
          <p:cNvPr id="15" name="Text 12"/>
          <p:cNvSpPr txBox="1"/>
          <p:nvPr/>
        </p:nvSpPr>
        <p:spPr>
          <a:xfrm>
            <a:off x="4553712" y="3291840"/>
            <a:ext cx="685800" cy="292608"/>
          </a:xfrm>
          <a:prstGeom prst="rect">
            <a:avLst/>
          </a:prstGeom>
          <a:noFill/>
          <a:ln/>
        </p:spPr>
        <p:txBody>
          <a:bodyPr wrap="square" lIns="0" tIns="0" rIns="0" bIns="0" rtlCol="0" anchor="ctr"/>
          <a:lstStyle/>
          <a:p>
            <a:pPr algn="ctr" indent="0" marL="0">
              <a:buNone/>
            </a:pPr>
            <a:r>
              <a:rPr lang="en-US" sz="1200" b="1" dirty="0">
                <a:solidFill>
                  <a:schemeClr val="tx1"/>
                </a:solidFill>
              </a:rPr>
              <a:t>P2</a:t>
            </a:r>
            <a:endParaRPr lang="en-US" sz="1200" dirty="0"/>
          </a:p>
        </p:txBody>
      </p:sp>
      <p:sp>
        <p:nvSpPr>
          <p:cNvPr id="16" name="Text 13"/>
          <p:cNvSpPr txBox="1"/>
          <p:nvPr/>
        </p:nvSpPr>
        <p:spPr>
          <a:xfrm>
            <a:off x="4553712" y="3657600"/>
            <a:ext cx="2971800" cy="1234440"/>
          </a:xfrm>
          <a:prstGeom prst="rect">
            <a:avLst/>
          </a:prstGeom>
          <a:noFill/>
          <a:ln/>
        </p:spPr>
        <p:txBody>
          <a:bodyPr wrap="square" lIns="0" tIns="0" rIns="0" bIns="0" rtlCol="0" anchor="t"/>
          <a:lstStyle/>
          <a:p>
            <a:pPr indent="0" marL="0">
              <a:buNone/>
            </a:pPr>
            <a:r>
              <a:rPr lang="en-US" sz="1400" dirty="0">
                <a:solidFill>
                  <a:schemeClr val="tx1"/>
                </a:solidFill>
              </a:rPr>
              <a:t>Does fusing routes, call graph, stack frames and a behavioural diff with BM25 + embeddings rank the faulty function first more often?</a:t>
            </a:r>
            <a:endParaRPr lang="en-US" sz="1400" dirty="0"/>
          </a:p>
        </p:txBody>
      </p:sp>
      <p:sp>
        <p:nvSpPr>
          <p:cNvPr id="17" name="card"/>
          <p:cNvSpPr/>
          <p:nvPr/>
        </p:nvSpPr>
        <p:spPr>
          <a:xfrm>
            <a:off x="8101584" y="3154680"/>
            <a:ext cx="3383280" cy="1783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8" name="Shape 15"/>
          <p:cNvSpPr/>
          <p:nvPr/>
        </p:nvSpPr>
        <p:spPr>
          <a:xfrm>
            <a:off x="8330184" y="3291840"/>
            <a:ext cx="685800" cy="292608"/>
          </a:xfrm>
          <a:prstGeom prst="roundRect">
            <a:avLst>
              <a:gd name="adj" fmla="val 50000"/>
            </a:avLst>
          </a:prstGeom>
          <a:solidFill>
            <a:schemeClr val="accent3"/>
          </a:solidFill>
          <a:ln w="12700">
            <a:solidFill>
              <a:schemeClr val="accent3"/>
            </a:solidFill>
            <a:prstDash val="solid"/>
          </a:ln>
        </p:spPr>
      </p:sp>
      <p:sp>
        <p:nvSpPr>
          <p:cNvPr id="19" name="Text 16"/>
          <p:cNvSpPr txBox="1"/>
          <p:nvPr/>
        </p:nvSpPr>
        <p:spPr>
          <a:xfrm>
            <a:off x="8330184" y="3291840"/>
            <a:ext cx="685800" cy="292608"/>
          </a:xfrm>
          <a:prstGeom prst="rect">
            <a:avLst/>
          </a:prstGeom>
          <a:noFill/>
          <a:ln/>
        </p:spPr>
        <p:txBody>
          <a:bodyPr wrap="square" lIns="0" tIns="0" rIns="0" bIns="0" rtlCol="0" anchor="ctr"/>
          <a:lstStyle/>
          <a:p>
            <a:pPr algn="ctr" indent="0" marL="0">
              <a:buNone/>
            </a:pPr>
            <a:r>
              <a:rPr lang="en-US" sz="1200" b="1" dirty="0">
                <a:solidFill>
                  <a:schemeClr val="bg1"/>
                </a:solidFill>
              </a:rPr>
              <a:t>P3</a:t>
            </a:r>
            <a:endParaRPr lang="en-US" sz="1200" dirty="0"/>
          </a:p>
        </p:txBody>
      </p:sp>
      <p:sp>
        <p:nvSpPr>
          <p:cNvPr id="20" name="Text 17"/>
          <p:cNvSpPr txBox="1"/>
          <p:nvPr/>
        </p:nvSpPr>
        <p:spPr>
          <a:xfrm>
            <a:off x="8330184" y="3657600"/>
            <a:ext cx="2971800" cy="1234440"/>
          </a:xfrm>
          <a:prstGeom prst="rect">
            <a:avLst/>
          </a:prstGeom>
          <a:noFill/>
          <a:ln/>
        </p:spPr>
        <p:txBody>
          <a:bodyPr wrap="square" lIns="0" tIns="0" rIns="0" bIns="0" rtlCol="0" anchor="t"/>
          <a:lstStyle/>
          <a:p>
            <a:pPr indent="0" marL="0">
              <a:buNone/>
            </a:pPr>
            <a:r>
              <a:rPr lang="en-US" sz="1400" dirty="0">
                <a:solidFill>
                  <a:schemeClr val="tx1"/>
                </a:solidFill>
              </a:rPr>
              <a:t>Can a generated test confirm the diagnosis: fail on the faulty code and pass on the known-good code?</a:t>
            </a:r>
            <a:endParaRPr lang="en-US" sz="1400" dirty="0"/>
          </a:p>
        </p:txBody>
      </p:sp>
      <p:sp>
        <p:nvSpPr>
          <p:cNvPr id="21" name="card"/>
          <p:cNvSpPr/>
          <p:nvPr/>
        </p:nvSpPr>
        <p:spPr>
          <a:xfrm>
            <a:off x="548640" y="5120640"/>
            <a:ext cx="11064240" cy="1051560"/>
          </a:xfrm>
          <a:prstGeom prst="rect">
            <a:avLst/>
          </a:prstGeom>
          <a:solidFill>
            <a:schemeClr val="accent4"/>
          </a:solidFill>
          <a:ln w="9525">
            <a:solidFill>
              <a:schemeClr val="accent4"/>
            </a:solidFill>
            <a:prstDash val="solid"/>
          </a:ln>
        </p:spPr>
      </p:sp>
      <p:sp>
        <p:nvSpPr>
          <p:cNvPr id="22" name="Text 19"/>
          <p:cNvSpPr txBox="1"/>
          <p:nvPr/>
        </p:nvSpPr>
        <p:spPr>
          <a:xfrm>
            <a:off x="777240" y="5166360"/>
            <a:ext cx="10698480" cy="960120"/>
          </a:xfrm>
          <a:prstGeom prst="rect">
            <a:avLst/>
          </a:prstGeom>
          <a:noFill/>
          <a:ln/>
        </p:spPr>
        <p:txBody>
          <a:bodyPr wrap="square" lIns="0" tIns="0" rIns="0" bIns="0" rtlCol="0" anchor="ctr"/>
          <a:lstStyle/>
          <a:p>
            <a:pPr indent="0" marL="0">
              <a:buNone/>
            </a:pPr>
            <a:r>
              <a:rPr lang="en-US" sz="1400" b="1" dirty="0">
                <a:solidFill>
                  <a:schemeClr val="tx1"/>
                </a:solidFill>
              </a:rPr>
              <a:t>H1 </a:t>
            </a:r>
            <a:pPr indent="0" marL="0">
              <a:buNone/>
            </a:pPr>
            <a:r>
              <a:rPr lang="en-US" sz="1400" dirty="0">
                <a:solidFill>
                  <a:schemeClr val="tx1"/>
                </a:solidFill>
              </a:rPr>
              <a:t>robust detection beats fixed thresholds.   </a:t>
            </a:r>
            <a:pPr indent="0" marL="0">
              <a:buNone/>
            </a:pPr>
            <a:r>
              <a:rPr lang="en-US" sz="1400" b="1" dirty="0">
                <a:solidFill>
                  <a:schemeClr val="tx1"/>
                </a:solidFill>
              </a:rPr>
              <a:t>H2 </a:t>
            </a:r>
            <a:pPr indent="0" marL="0">
              <a:buNone/>
            </a:pPr>
            <a:r>
              <a:rPr lang="en-US" sz="1400" dirty="0">
                <a:solidFill>
                  <a:schemeClr val="tx1"/>
                </a:solidFill>
              </a:rPr>
              <a:t>the hybrid tracer beats every single-signal baseline on Top-1.   </a:t>
            </a:r>
            <a:pPr indent="0" marL="0">
              <a:buNone/>
            </a:pPr>
            <a:r>
              <a:rPr lang="en-US" sz="1400" b="1" dirty="0">
                <a:solidFill>
                  <a:schemeClr val="tx1"/>
                </a:solidFill>
              </a:rPr>
              <a:t>H3 </a:t>
            </a:r>
            <a:pPr indent="0" marL="0">
              <a:buNone/>
            </a:pPr>
            <a:r>
              <a:rPr lang="en-US" sz="1400" dirty="0">
                <a:solidFill>
                  <a:schemeClr val="tx1"/>
                </a:solidFill>
              </a:rPr>
              <a:t>an LLM helps as a re-ranker over structured evidence more than as plain RAG.   </a:t>
            </a:r>
            <a:pPr indent="0" marL="0">
              <a:buNone/>
            </a:pPr>
            <a:r>
              <a:rPr lang="en-US" sz="1400" b="1" dirty="0">
                <a:solidFill>
                  <a:schemeClr val="tx1"/>
                </a:solidFill>
              </a:rPr>
              <a:t>H4 </a:t>
            </a:r>
            <a:pPr indent="0" marL="0">
              <a:buNone/>
            </a:pPr>
            <a:r>
              <a:rPr lang="en-US" sz="1400" dirty="0">
                <a:solidFill>
                  <a:schemeClr val="tx1"/>
                </a:solidFill>
              </a:rPr>
              <a:t>most generated tests are confirming, and unsafe tests are blocked.</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METHODOLOGY: SYSTEM DESIGN</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Six steps from telemetry to a confirming test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Shape 4"/>
          <p:cNvSpPr/>
          <p:nvPr/>
        </p:nvSpPr>
        <p:spPr>
          <a:xfrm>
            <a:off x="548640" y="1828800"/>
            <a:ext cx="1783080" cy="1051560"/>
          </a:xfrm>
          <a:prstGeom prst="rect">
            <a:avLst/>
          </a:prstGeom>
          <a:solidFill>
            <a:schemeClr val="accent1"/>
          </a:solidFill>
          <a:ln w="12700">
            <a:solidFill>
              <a:schemeClr val="accent1"/>
            </a:solidFill>
            <a:prstDash val="solid"/>
          </a:ln>
        </p:spPr>
      </p:sp>
      <p:sp>
        <p:nvSpPr>
          <p:cNvPr id="8" name="Text 5"/>
          <p:cNvSpPr txBox="1"/>
          <p:nvPr/>
        </p:nvSpPr>
        <p:spPr>
          <a:xfrm>
            <a:off x="640080" y="196596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1  Collect</a:t>
            </a:r>
            <a:endParaRPr lang="en-US" sz="1500" dirty="0"/>
          </a:p>
        </p:txBody>
      </p:sp>
      <p:sp>
        <p:nvSpPr>
          <p:cNvPr id="9" name="Text 6"/>
          <p:cNvSpPr txBox="1"/>
          <p:nvPr/>
        </p:nvSpPr>
        <p:spPr>
          <a:xfrm>
            <a:off x="640080" y="239572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per-route, per-process</a:t>
            </a:r>
            <a:endParaRPr lang="en-US" sz="1200" dirty="0"/>
          </a:p>
        </p:txBody>
      </p:sp>
      <p:sp>
        <p:nvSpPr>
          <p:cNvPr id="10" name="Shape 7"/>
          <p:cNvSpPr/>
          <p:nvPr/>
        </p:nvSpPr>
        <p:spPr>
          <a:xfrm>
            <a:off x="2514600" y="1828800"/>
            <a:ext cx="1783080" cy="1051560"/>
          </a:xfrm>
          <a:prstGeom prst="rect">
            <a:avLst/>
          </a:prstGeom>
          <a:solidFill>
            <a:schemeClr val="accent1"/>
          </a:solidFill>
          <a:ln w="12700">
            <a:solidFill>
              <a:schemeClr val="accent1"/>
            </a:solidFill>
            <a:prstDash val="solid"/>
          </a:ln>
        </p:spPr>
      </p:sp>
      <p:sp>
        <p:nvSpPr>
          <p:cNvPr id="11" name="Text 8"/>
          <p:cNvSpPr txBox="1"/>
          <p:nvPr/>
        </p:nvSpPr>
        <p:spPr>
          <a:xfrm>
            <a:off x="2606040" y="196596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2  Detect</a:t>
            </a:r>
            <a:endParaRPr lang="en-US" sz="1500" dirty="0"/>
          </a:p>
        </p:txBody>
      </p:sp>
      <p:sp>
        <p:nvSpPr>
          <p:cNvPr id="12" name="Text 9"/>
          <p:cNvSpPr txBox="1"/>
          <p:nvPr/>
        </p:nvSpPr>
        <p:spPr>
          <a:xfrm>
            <a:off x="2606040" y="239572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robust z, change-aware</a:t>
            </a:r>
            <a:endParaRPr lang="en-US" sz="1200" dirty="0"/>
          </a:p>
        </p:txBody>
      </p:sp>
      <p:sp>
        <p:nvSpPr>
          <p:cNvPr id="13" name="Shape 10"/>
          <p:cNvSpPr/>
          <p:nvPr/>
        </p:nvSpPr>
        <p:spPr>
          <a:xfrm>
            <a:off x="4480560" y="1828800"/>
            <a:ext cx="1783080" cy="1051560"/>
          </a:xfrm>
          <a:prstGeom prst="rect">
            <a:avLst/>
          </a:prstGeom>
          <a:solidFill>
            <a:schemeClr val="accent1"/>
          </a:solidFill>
          <a:ln w="12700">
            <a:solidFill>
              <a:schemeClr val="accent1"/>
            </a:solidFill>
            <a:prstDash val="solid"/>
          </a:ln>
        </p:spPr>
      </p:sp>
      <p:sp>
        <p:nvSpPr>
          <p:cNvPr id="14" name="Text 11"/>
          <p:cNvSpPr txBox="1"/>
          <p:nvPr/>
        </p:nvSpPr>
        <p:spPr>
          <a:xfrm>
            <a:off x="4572000" y="196596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3  Evidence packet</a:t>
            </a:r>
            <a:endParaRPr lang="en-US" sz="1500" dirty="0"/>
          </a:p>
        </p:txBody>
      </p:sp>
      <p:sp>
        <p:nvSpPr>
          <p:cNvPr id="15" name="Text 12"/>
          <p:cNvSpPr txBox="1"/>
          <p:nvPr/>
        </p:nvSpPr>
        <p:spPr>
          <a:xfrm>
            <a:off x="4572000" y="239572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signals, errors, diff</a:t>
            </a:r>
            <a:endParaRPr lang="en-US" sz="1200" dirty="0"/>
          </a:p>
        </p:txBody>
      </p:sp>
      <p:sp>
        <p:nvSpPr>
          <p:cNvPr id="16" name="Shape 13"/>
          <p:cNvSpPr/>
          <p:nvPr/>
        </p:nvSpPr>
        <p:spPr>
          <a:xfrm>
            <a:off x="6446520" y="1828800"/>
            <a:ext cx="1783080" cy="1051560"/>
          </a:xfrm>
          <a:prstGeom prst="rect">
            <a:avLst/>
          </a:prstGeom>
          <a:solidFill>
            <a:schemeClr val="accent1"/>
          </a:solidFill>
          <a:ln w="12700">
            <a:solidFill>
              <a:schemeClr val="accent1"/>
            </a:solidFill>
            <a:prstDash val="solid"/>
          </a:ln>
        </p:spPr>
      </p:sp>
      <p:sp>
        <p:nvSpPr>
          <p:cNvPr id="17" name="Text 14"/>
          <p:cNvSpPr txBox="1"/>
          <p:nvPr/>
        </p:nvSpPr>
        <p:spPr>
          <a:xfrm>
            <a:off x="6537960" y="196596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4  Code index</a:t>
            </a:r>
            <a:endParaRPr lang="en-US" sz="1500" dirty="0"/>
          </a:p>
        </p:txBody>
      </p:sp>
      <p:sp>
        <p:nvSpPr>
          <p:cNvPr id="18" name="Text 15"/>
          <p:cNvSpPr txBox="1"/>
          <p:nvPr/>
        </p:nvSpPr>
        <p:spPr>
          <a:xfrm>
            <a:off x="6537960" y="239572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AST, BM25, bge-small</a:t>
            </a:r>
            <a:endParaRPr lang="en-US" sz="1200" dirty="0"/>
          </a:p>
        </p:txBody>
      </p:sp>
      <p:sp>
        <p:nvSpPr>
          <p:cNvPr id="19" name="Shape 16"/>
          <p:cNvSpPr/>
          <p:nvPr/>
        </p:nvSpPr>
        <p:spPr>
          <a:xfrm>
            <a:off x="8412480" y="1828800"/>
            <a:ext cx="1783080" cy="1051560"/>
          </a:xfrm>
          <a:prstGeom prst="rect">
            <a:avLst/>
          </a:prstGeom>
          <a:solidFill>
            <a:schemeClr val="accent1"/>
          </a:solidFill>
          <a:ln w="12700">
            <a:solidFill>
              <a:schemeClr val="accent1"/>
            </a:solidFill>
            <a:prstDash val="solid"/>
          </a:ln>
        </p:spPr>
      </p:sp>
      <p:sp>
        <p:nvSpPr>
          <p:cNvPr id="20" name="Text 17"/>
          <p:cNvSpPr txBox="1"/>
          <p:nvPr/>
        </p:nvSpPr>
        <p:spPr>
          <a:xfrm>
            <a:off x="8503920" y="196596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5  Trace</a:t>
            </a:r>
            <a:endParaRPr lang="en-US" sz="1500" dirty="0"/>
          </a:p>
        </p:txBody>
      </p:sp>
      <p:sp>
        <p:nvSpPr>
          <p:cNvPr id="21" name="Text 18"/>
          <p:cNvSpPr txBox="1"/>
          <p:nvPr/>
        </p:nvSpPr>
        <p:spPr>
          <a:xfrm>
            <a:off x="8503920" y="239572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hybrid + LLM re-rank</a:t>
            </a:r>
            <a:endParaRPr lang="en-US" sz="1200" dirty="0"/>
          </a:p>
        </p:txBody>
      </p:sp>
      <p:sp>
        <p:nvSpPr>
          <p:cNvPr id="22" name="Shape 19"/>
          <p:cNvSpPr/>
          <p:nvPr/>
        </p:nvSpPr>
        <p:spPr>
          <a:xfrm>
            <a:off x="8412480" y="3520440"/>
            <a:ext cx="1783080" cy="1051560"/>
          </a:xfrm>
          <a:prstGeom prst="rect">
            <a:avLst/>
          </a:prstGeom>
          <a:solidFill>
            <a:schemeClr val="accent1"/>
          </a:solidFill>
          <a:ln w="12700">
            <a:solidFill>
              <a:schemeClr val="accent1"/>
            </a:solidFill>
            <a:prstDash val="solid"/>
          </a:ln>
        </p:spPr>
      </p:sp>
      <p:sp>
        <p:nvSpPr>
          <p:cNvPr id="23" name="Text 20"/>
          <p:cNvSpPr txBox="1"/>
          <p:nvPr/>
        </p:nvSpPr>
        <p:spPr>
          <a:xfrm>
            <a:off x="8503920" y="365760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Action decision</a:t>
            </a:r>
            <a:endParaRPr lang="en-US" sz="1500" dirty="0"/>
          </a:p>
        </p:txBody>
      </p:sp>
      <p:sp>
        <p:nvSpPr>
          <p:cNvPr id="24" name="Text 21"/>
          <p:cNvSpPr txBox="1"/>
          <p:nvPr/>
        </p:nvSpPr>
        <p:spPr>
          <a:xfrm>
            <a:off x="8503920" y="408736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fix / scale / investigate</a:t>
            </a:r>
            <a:endParaRPr lang="en-US" sz="1200" dirty="0"/>
          </a:p>
        </p:txBody>
      </p:sp>
      <p:sp>
        <p:nvSpPr>
          <p:cNvPr id="25" name="Shape 22"/>
          <p:cNvSpPr/>
          <p:nvPr/>
        </p:nvSpPr>
        <p:spPr>
          <a:xfrm>
            <a:off x="6446520" y="3520440"/>
            <a:ext cx="1783080" cy="1051560"/>
          </a:xfrm>
          <a:prstGeom prst="rect">
            <a:avLst/>
          </a:prstGeom>
          <a:solidFill>
            <a:schemeClr val="accent1"/>
          </a:solidFill>
          <a:ln w="12700">
            <a:solidFill>
              <a:schemeClr val="accent1"/>
            </a:solidFill>
            <a:prstDash val="solid"/>
          </a:ln>
        </p:spPr>
      </p:sp>
      <p:sp>
        <p:nvSpPr>
          <p:cNvPr id="26" name="Text 23"/>
          <p:cNvSpPr txBox="1"/>
          <p:nvPr/>
        </p:nvSpPr>
        <p:spPr>
          <a:xfrm>
            <a:off x="6537960" y="365760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6  Confirming test</a:t>
            </a:r>
            <a:endParaRPr lang="en-US" sz="1500" dirty="0"/>
          </a:p>
        </p:txBody>
      </p:sp>
      <p:sp>
        <p:nvSpPr>
          <p:cNvPr id="27" name="Text 24"/>
          <p:cNvSpPr txBox="1"/>
          <p:nvPr/>
        </p:nvSpPr>
        <p:spPr>
          <a:xfrm>
            <a:off x="6537960" y="408736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template or LLM</a:t>
            </a:r>
            <a:endParaRPr lang="en-US" sz="1200" dirty="0"/>
          </a:p>
        </p:txBody>
      </p:sp>
      <p:sp>
        <p:nvSpPr>
          <p:cNvPr id="28" name="Shape 25"/>
          <p:cNvSpPr/>
          <p:nvPr/>
        </p:nvSpPr>
        <p:spPr>
          <a:xfrm>
            <a:off x="4480560" y="3520440"/>
            <a:ext cx="1783080" cy="1051560"/>
          </a:xfrm>
          <a:prstGeom prst="rect">
            <a:avLst/>
          </a:prstGeom>
          <a:solidFill>
            <a:schemeClr val="accent1"/>
          </a:solidFill>
          <a:ln w="12700">
            <a:solidFill>
              <a:schemeClr val="accent1"/>
            </a:solidFill>
            <a:prstDash val="solid"/>
          </a:ln>
        </p:spPr>
      </p:sp>
      <p:sp>
        <p:nvSpPr>
          <p:cNvPr id="29" name="Text 26"/>
          <p:cNvSpPr txBox="1"/>
          <p:nvPr/>
        </p:nvSpPr>
        <p:spPr>
          <a:xfrm>
            <a:off x="4572000" y="365760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Sandbox</a:t>
            </a:r>
            <a:endParaRPr lang="en-US" sz="1500" dirty="0"/>
          </a:p>
        </p:txBody>
      </p:sp>
      <p:sp>
        <p:nvSpPr>
          <p:cNvPr id="30" name="Text 27"/>
          <p:cNvSpPr txBox="1"/>
          <p:nvPr/>
        </p:nvSpPr>
        <p:spPr>
          <a:xfrm>
            <a:off x="4572000" y="408736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fail faulty, pass good</a:t>
            </a:r>
            <a:endParaRPr lang="en-US" sz="1200" dirty="0"/>
          </a:p>
        </p:txBody>
      </p:sp>
      <p:sp>
        <p:nvSpPr>
          <p:cNvPr id="31" name="Shape 28"/>
          <p:cNvSpPr/>
          <p:nvPr/>
        </p:nvSpPr>
        <p:spPr>
          <a:xfrm>
            <a:off x="2514600" y="3520440"/>
            <a:ext cx="1783080" cy="1051560"/>
          </a:xfrm>
          <a:prstGeom prst="rect">
            <a:avLst/>
          </a:prstGeom>
          <a:solidFill>
            <a:schemeClr val="accent1"/>
          </a:solidFill>
          <a:ln w="12700">
            <a:solidFill>
              <a:schemeClr val="accent1"/>
            </a:solidFill>
            <a:prstDash val="solid"/>
          </a:ln>
        </p:spPr>
      </p:sp>
      <p:sp>
        <p:nvSpPr>
          <p:cNvPr id="32" name="Text 29"/>
          <p:cNvSpPr txBox="1"/>
          <p:nvPr/>
        </p:nvSpPr>
        <p:spPr>
          <a:xfrm>
            <a:off x="2606040" y="3657600"/>
            <a:ext cx="1600200" cy="411480"/>
          </a:xfrm>
          <a:prstGeom prst="rect">
            <a:avLst/>
          </a:prstGeom>
          <a:noFill/>
          <a:ln/>
        </p:spPr>
        <p:txBody>
          <a:bodyPr wrap="square" lIns="0" tIns="0" rIns="0" bIns="0" rtlCol="0" anchor="t"/>
          <a:lstStyle/>
          <a:p>
            <a:pPr algn="ctr" indent="0" marL="0">
              <a:buNone/>
            </a:pPr>
            <a:r>
              <a:rPr lang="en-US" sz="1500" b="1" dirty="0">
                <a:solidFill>
                  <a:schemeClr val="bg1"/>
                </a:solidFill>
              </a:rPr>
              <a:t>Owner approves</a:t>
            </a:r>
            <a:endParaRPr lang="en-US" sz="1500" dirty="0"/>
          </a:p>
        </p:txBody>
      </p:sp>
      <p:sp>
        <p:nvSpPr>
          <p:cNvPr id="33" name="Text 30"/>
          <p:cNvSpPr txBox="1"/>
          <p:nvPr/>
        </p:nvSpPr>
        <p:spPr>
          <a:xfrm>
            <a:off x="2606040" y="4087368"/>
            <a:ext cx="1600200" cy="365760"/>
          </a:xfrm>
          <a:prstGeom prst="rect">
            <a:avLst/>
          </a:prstGeom>
          <a:noFill/>
          <a:ln/>
        </p:spPr>
        <p:txBody>
          <a:bodyPr wrap="square" lIns="0" tIns="0" rIns="0" bIns="0" rtlCol="0" anchor="t"/>
          <a:lstStyle/>
          <a:p>
            <a:pPr algn="ctr" indent="0" marL="0">
              <a:buNone/>
            </a:pPr>
            <a:r>
              <a:rPr lang="en-US" sz="1200" dirty="0">
                <a:solidFill>
                  <a:srgbClr val="DDE2F5"/>
                </a:solidFill>
              </a:rPr>
              <a:t>named human</a:t>
            </a:r>
            <a:endParaRPr lang="en-US" sz="1200" dirty="0"/>
          </a:p>
        </p:txBody>
      </p:sp>
      <p:sp>
        <p:nvSpPr>
          <p:cNvPr id="34" name="arrow"/>
          <p:cNvSpPr/>
          <p:nvPr/>
        </p:nvSpPr>
        <p:spPr>
          <a:xfrm>
            <a:off x="2331720" y="2354580"/>
            <a:ext cx="182880" cy="0"/>
          </a:xfrm>
          <a:prstGeom prst="line">
            <a:avLst/>
          </a:prstGeom>
          <a:noFill/>
          <a:ln w="15875">
            <a:solidFill>
              <a:srgbClr val="5A6072"/>
            </a:solidFill>
            <a:prstDash val="solid"/>
            <a:tailEnd type="triangle"/>
          </a:ln>
        </p:spPr>
      </p:sp>
      <p:sp>
        <p:nvSpPr>
          <p:cNvPr id="35" name="arrow"/>
          <p:cNvSpPr/>
          <p:nvPr/>
        </p:nvSpPr>
        <p:spPr>
          <a:xfrm>
            <a:off x="4297680" y="2354580"/>
            <a:ext cx="182880" cy="0"/>
          </a:xfrm>
          <a:prstGeom prst="line">
            <a:avLst/>
          </a:prstGeom>
          <a:noFill/>
          <a:ln w="15875">
            <a:solidFill>
              <a:srgbClr val="5A6072"/>
            </a:solidFill>
            <a:prstDash val="solid"/>
            <a:tailEnd type="triangle"/>
          </a:ln>
        </p:spPr>
      </p:sp>
      <p:sp>
        <p:nvSpPr>
          <p:cNvPr id="36" name="arrow"/>
          <p:cNvSpPr/>
          <p:nvPr/>
        </p:nvSpPr>
        <p:spPr>
          <a:xfrm>
            <a:off x="6263640" y="2354580"/>
            <a:ext cx="182880" cy="0"/>
          </a:xfrm>
          <a:prstGeom prst="line">
            <a:avLst/>
          </a:prstGeom>
          <a:noFill/>
          <a:ln w="15875">
            <a:solidFill>
              <a:srgbClr val="5A6072"/>
            </a:solidFill>
            <a:prstDash val="solid"/>
            <a:tailEnd type="triangle"/>
          </a:ln>
        </p:spPr>
      </p:sp>
      <p:sp>
        <p:nvSpPr>
          <p:cNvPr id="37" name="arrow"/>
          <p:cNvSpPr/>
          <p:nvPr/>
        </p:nvSpPr>
        <p:spPr>
          <a:xfrm>
            <a:off x="8229600" y="2354580"/>
            <a:ext cx="182880" cy="0"/>
          </a:xfrm>
          <a:prstGeom prst="line">
            <a:avLst/>
          </a:prstGeom>
          <a:noFill/>
          <a:ln w="15875">
            <a:solidFill>
              <a:srgbClr val="5A6072"/>
            </a:solidFill>
            <a:prstDash val="solid"/>
            <a:tailEnd type="triangle"/>
          </a:ln>
        </p:spPr>
      </p:sp>
      <p:sp>
        <p:nvSpPr>
          <p:cNvPr id="38" name="arrow"/>
          <p:cNvSpPr/>
          <p:nvPr/>
        </p:nvSpPr>
        <p:spPr>
          <a:xfrm>
            <a:off x="9304020" y="2880360"/>
            <a:ext cx="0" cy="640080"/>
          </a:xfrm>
          <a:prstGeom prst="line">
            <a:avLst/>
          </a:prstGeom>
          <a:noFill/>
          <a:ln w="15875">
            <a:solidFill>
              <a:srgbClr val="5A6072"/>
            </a:solidFill>
            <a:prstDash val="solid"/>
            <a:tailEnd type="triangle"/>
          </a:ln>
        </p:spPr>
      </p:sp>
      <p:sp>
        <p:nvSpPr>
          <p:cNvPr id="39" name="arrow"/>
          <p:cNvSpPr/>
          <p:nvPr/>
        </p:nvSpPr>
        <p:spPr>
          <a:xfrm flipH="1">
            <a:off x="8229600" y="4046220"/>
            <a:ext cx="182880" cy="0"/>
          </a:xfrm>
          <a:prstGeom prst="line">
            <a:avLst/>
          </a:prstGeom>
          <a:noFill/>
          <a:ln w="15875">
            <a:solidFill>
              <a:srgbClr val="5A6072"/>
            </a:solidFill>
            <a:prstDash val="solid"/>
            <a:tailEnd type="triangle"/>
          </a:ln>
        </p:spPr>
      </p:sp>
      <p:sp>
        <p:nvSpPr>
          <p:cNvPr id="40" name="arrow"/>
          <p:cNvSpPr/>
          <p:nvPr/>
        </p:nvSpPr>
        <p:spPr>
          <a:xfrm flipH="1">
            <a:off x="6263640" y="4046220"/>
            <a:ext cx="182880" cy="0"/>
          </a:xfrm>
          <a:prstGeom prst="line">
            <a:avLst/>
          </a:prstGeom>
          <a:noFill/>
          <a:ln w="15875">
            <a:solidFill>
              <a:srgbClr val="5A6072"/>
            </a:solidFill>
            <a:prstDash val="solid"/>
            <a:tailEnd type="triangle"/>
          </a:ln>
        </p:spPr>
      </p:sp>
      <p:sp>
        <p:nvSpPr>
          <p:cNvPr id="41" name="arrow"/>
          <p:cNvSpPr/>
          <p:nvPr/>
        </p:nvSpPr>
        <p:spPr>
          <a:xfrm flipH="1">
            <a:off x="4297680" y="4046220"/>
            <a:ext cx="182880" cy="0"/>
          </a:xfrm>
          <a:prstGeom prst="line">
            <a:avLst/>
          </a:prstGeom>
          <a:noFill/>
          <a:ln w="15875">
            <a:solidFill>
              <a:srgbClr val="5A6072"/>
            </a:solidFill>
            <a:prstDash val="solid"/>
            <a:tailEnd type="triangle"/>
          </a:ln>
        </p:spPr>
      </p:sp>
      <p:sp>
        <p:nvSpPr>
          <p:cNvPr id="42" name="Shape 39"/>
          <p:cNvSpPr/>
          <p:nvPr/>
        </p:nvSpPr>
        <p:spPr>
          <a:xfrm>
            <a:off x="548640" y="3520440"/>
            <a:ext cx="1783080" cy="1051560"/>
          </a:xfrm>
          <a:prstGeom prst="rect">
            <a:avLst/>
          </a:prstGeom>
          <a:solidFill>
            <a:schemeClr val="bg1"/>
          </a:solidFill>
          <a:ln w="19050">
            <a:solidFill>
              <a:srgbClr val="E07A2E"/>
            </a:solidFill>
            <a:prstDash val="dash"/>
          </a:ln>
        </p:spPr>
      </p:sp>
      <p:sp>
        <p:nvSpPr>
          <p:cNvPr id="43" name="Text 40"/>
          <p:cNvSpPr txBox="1"/>
          <p:nvPr/>
        </p:nvSpPr>
        <p:spPr>
          <a:xfrm>
            <a:off x="640080" y="3611880"/>
            <a:ext cx="1600200" cy="868680"/>
          </a:xfrm>
          <a:prstGeom prst="rect">
            <a:avLst/>
          </a:prstGeom>
          <a:noFill/>
          <a:ln/>
        </p:spPr>
        <p:txBody>
          <a:bodyPr wrap="square" lIns="0" tIns="0" rIns="0" bIns="0" rtlCol="0" anchor="ctr"/>
          <a:lstStyle/>
          <a:p>
            <a:pPr algn="ctr" indent="0" marL="0">
              <a:buNone/>
            </a:pPr>
            <a:r>
              <a:rPr lang="en-US" sz="1300" b="1" dirty="0">
                <a:solidFill>
                  <a:schemeClr val="tx1"/>
                </a:solidFill>
              </a:rPr>
              <a:t>7-10  Fix PR, CI/CD, rollout</a:t>
            </a:r>
            <a:endParaRPr lang="en-US" sz="1300" dirty="0"/>
          </a:p>
        </p:txBody>
      </p:sp>
      <p:sp>
        <p:nvSpPr>
          <p:cNvPr id="44" name="arrow"/>
          <p:cNvSpPr/>
          <p:nvPr/>
        </p:nvSpPr>
        <p:spPr>
          <a:xfrm flipH="1">
            <a:off x="2331720" y="4046220"/>
            <a:ext cx="182880" cy="0"/>
          </a:xfrm>
          <a:prstGeom prst="line">
            <a:avLst/>
          </a:prstGeom>
          <a:noFill/>
          <a:ln w="15875">
            <a:solidFill>
              <a:srgbClr val="5A6072"/>
            </a:solidFill>
            <a:prstDash val="solid"/>
            <a:tailEnd type="triangle"/>
          </a:ln>
        </p:spPr>
      </p:sp>
      <p:sp>
        <p:nvSpPr>
          <p:cNvPr id="45" name="card"/>
          <p:cNvSpPr/>
          <p:nvPr/>
        </p:nvSpPr>
        <p:spPr>
          <a:xfrm>
            <a:off x="10378440" y="1828800"/>
            <a:ext cx="1234440" cy="2743200"/>
          </a:xfrm>
          <a:prstGeom prst="rect">
            <a:avLst/>
          </a:prstGeom>
          <a:solidFill>
            <a:schemeClr val="accent4"/>
          </a:solidFill>
          <a:ln w="9525">
            <a:solidFill>
              <a:schemeClr val="accent4"/>
            </a:solidFill>
            <a:prstDash val="solid"/>
          </a:ln>
        </p:spPr>
      </p:sp>
      <p:sp>
        <p:nvSpPr>
          <p:cNvPr id="46" name="Text 43"/>
          <p:cNvSpPr txBox="1"/>
          <p:nvPr/>
        </p:nvSpPr>
        <p:spPr>
          <a:xfrm>
            <a:off x="10424160" y="1920240"/>
            <a:ext cx="1143000" cy="2560320"/>
          </a:xfrm>
          <a:prstGeom prst="rect">
            <a:avLst/>
          </a:prstGeom>
          <a:noFill/>
          <a:ln/>
        </p:spPr>
        <p:txBody>
          <a:bodyPr wrap="square" lIns="0" tIns="0" rIns="0" bIns="0" rtlCol="0" anchor="ctr"/>
          <a:lstStyle/>
          <a:p>
            <a:pPr algn="ctr" indent="0" marL="0">
              <a:buNone/>
            </a:pPr>
            <a:r>
              <a:rPr lang="en-US" sz="1300" b="1" dirty="0">
                <a:solidFill>
                  <a:schemeClr val="tx1"/>
                </a:solidFill>
              </a:rPr>
              <a:t>Audit JSONL at every step</a:t>
            </a:r>
            <a:endParaRPr lang="en-US" sz="1300" dirty="0"/>
          </a:p>
        </p:txBody>
      </p:sp>
      <p:sp>
        <p:nvSpPr>
          <p:cNvPr id="47" name="Shape 44"/>
          <p:cNvSpPr/>
          <p:nvPr/>
        </p:nvSpPr>
        <p:spPr>
          <a:xfrm>
            <a:off x="548640" y="5120640"/>
            <a:ext cx="411480" cy="274320"/>
          </a:xfrm>
          <a:prstGeom prst="rect">
            <a:avLst/>
          </a:prstGeom>
          <a:solidFill>
            <a:schemeClr val="accent1"/>
          </a:solidFill>
          <a:ln w="12700">
            <a:solidFill>
              <a:schemeClr val="accent1"/>
            </a:solidFill>
            <a:prstDash val="solid"/>
          </a:ln>
        </p:spPr>
      </p:sp>
      <p:sp>
        <p:nvSpPr>
          <p:cNvPr id="48" name="Text 45"/>
          <p:cNvSpPr txBox="1"/>
          <p:nvPr/>
        </p:nvSpPr>
        <p:spPr>
          <a:xfrm>
            <a:off x="1051560" y="5120640"/>
            <a:ext cx="2286000" cy="274320"/>
          </a:xfrm>
          <a:prstGeom prst="rect">
            <a:avLst/>
          </a:prstGeom>
          <a:noFill/>
          <a:ln/>
        </p:spPr>
        <p:txBody>
          <a:bodyPr wrap="square" lIns="0" tIns="0" rIns="0" bIns="0" rtlCol="0" anchor="ctr"/>
          <a:lstStyle/>
          <a:p>
            <a:pPr indent="0" marL="0">
              <a:buNone/>
            </a:pPr>
            <a:r>
              <a:rPr lang="en-US" sz="1300" dirty="0">
                <a:solidFill>
                  <a:schemeClr val="tx2"/>
                </a:solidFill>
              </a:rPr>
              <a:t>Built and evaluated</a:t>
            </a:r>
            <a:endParaRPr lang="en-US" sz="1300" dirty="0"/>
          </a:p>
        </p:txBody>
      </p:sp>
      <p:sp>
        <p:nvSpPr>
          <p:cNvPr id="49" name="Shape 46"/>
          <p:cNvSpPr/>
          <p:nvPr/>
        </p:nvSpPr>
        <p:spPr>
          <a:xfrm>
            <a:off x="3566160" y="5120640"/>
            <a:ext cx="411480" cy="274320"/>
          </a:xfrm>
          <a:prstGeom prst="rect">
            <a:avLst/>
          </a:prstGeom>
          <a:solidFill>
            <a:schemeClr val="bg1"/>
          </a:solidFill>
          <a:ln w="15875">
            <a:solidFill>
              <a:srgbClr val="E07A2E"/>
            </a:solidFill>
            <a:prstDash val="dash"/>
          </a:ln>
        </p:spPr>
      </p:sp>
      <p:sp>
        <p:nvSpPr>
          <p:cNvPr id="50" name="Text 47"/>
          <p:cNvSpPr txBox="1"/>
          <p:nvPr/>
        </p:nvSpPr>
        <p:spPr>
          <a:xfrm>
            <a:off x="4069080" y="5120640"/>
            <a:ext cx="3657600" cy="274320"/>
          </a:xfrm>
          <a:prstGeom prst="rect">
            <a:avLst/>
          </a:prstGeom>
          <a:noFill/>
          <a:ln/>
        </p:spPr>
        <p:txBody>
          <a:bodyPr wrap="square" lIns="0" tIns="0" rIns="0" bIns="0" rtlCol="0" anchor="ctr"/>
          <a:lstStyle/>
          <a:p>
            <a:pPr indent="0" marL="0">
              <a:buNone/>
            </a:pPr>
            <a:r>
              <a:rPr lang="en-US" sz="1300" dirty="0">
                <a:solidFill>
                  <a:schemeClr val="tx2"/>
                </a:solidFill>
              </a:rPr>
              <a:t>Designed, not automated (by choice)</a:t>
            </a:r>
            <a:endParaRPr lang="en-US" sz="1300" dirty="0"/>
          </a:p>
        </p:txBody>
      </p:sp>
      <p:sp>
        <p:nvSpPr>
          <p:cNvPr id="51" name="Text 48"/>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500" i="1" dirty="0">
                <a:solidFill>
                  <a:schemeClr val="accent1"/>
                </a:solidFill>
              </a:rPr>
              <a:t>Sentinel never edits code, restarts or scales anything. Its output is a diagnosis, a confirming test and a recommended action.</a:t>
            </a:r>
            <a:endParaRPr lang="en-US" sz="15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EXPERIMENT: THE BENCHMARK</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Real faults, real deployments, known answers</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P1 | Akash</a:t>
            </a:r>
            <a:endParaRPr lang="en-US" sz="1200" dirty="0"/>
          </a:p>
        </p:txBody>
      </p:sp>
      <p:sp>
        <p:nvSpPr>
          <p:cNvPr id="7" name="card"/>
          <p:cNvSpPr/>
          <p:nvPr/>
        </p:nvSpPr>
        <p:spPr>
          <a:xfrm>
            <a:off x="548640" y="1645920"/>
            <a:ext cx="2560320" cy="16002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badge"/>
          <p:cNvSpPr/>
          <p:nvPr/>
        </p:nvSpPr>
        <p:spPr>
          <a:xfrm>
            <a:off x="777240" y="1810512"/>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37160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Start</a:t>
            </a:r>
            <a:endParaRPr lang="en-US" sz="1900" dirty="0"/>
          </a:p>
        </p:txBody>
      </p:sp>
      <p:sp>
        <p:nvSpPr>
          <p:cNvPr id="11" name="Text 8"/>
          <p:cNvSpPr txBox="1"/>
          <p:nvPr/>
        </p:nvSpPr>
        <p:spPr>
          <a:xfrm>
            <a:off x="777240" y="2377440"/>
            <a:ext cx="2148840" cy="822960"/>
          </a:xfrm>
          <a:prstGeom prst="rect">
            <a:avLst/>
          </a:prstGeom>
          <a:noFill/>
          <a:ln/>
        </p:spPr>
        <p:txBody>
          <a:bodyPr wrap="square" lIns="0" tIns="0" rIns="0" bIns="0" rtlCol="0" anchor="t"/>
          <a:lstStyle/>
          <a:p>
            <a:pPr indent="0" marL="0">
              <a:buNone/>
            </a:pPr>
            <a:r>
              <a:rPr lang="en-US" sz="1300" dirty="0">
                <a:solidFill>
                  <a:schemeClr val="tx2"/>
                </a:solidFill>
              </a:rPr>
              <a:t>3 FastAPI tenants on one machine: orders, inventory, payments</a:t>
            </a:r>
            <a:endParaRPr lang="en-US" sz="1300" dirty="0"/>
          </a:p>
        </p:txBody>
      </p:sp>
      <p:sp>
        <p:nvSpPr>
          <p:cNvPr id="12" name="arrow"/>
          <p:cNvSpPr/>
          <p:nvPr/>
        </p:nvSpPr>
        <p:spPr>
          <a:xfrm>
            <a:off x="3108960" y="2446020"/>
            <a:ext cx="274320" cy="0"/>
          </a:xfrm>
          <a:prstGeom prst="line">
            <a:avLst/>
          </a:prstGeom>
          <a:noFill/>
          <a:ln w="15875">
            <a:solidFill>
              <a:srgbClr val="5A6072"/>
            </a:solidFill>
            <a:prstDash val="solid"/>
            <a:tailEnd type="triangle"/>
          </a:ln>
        </p:spPr>
      </p:sp>
      <p:sp>
        <p:nvSpPr>
          <p:cNvPr id="13" name="card"/>
          <p:cNvSpPr/>
          <p:nvPr/>
        </p:nvSpPr>
        <p:spPr>
          <a:xfrm>
            <a:off x="3383280" y="1645920"/>
            <a:ext cx="2560320" cy="16002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badge"/>
          <p:cNvSpPr/>
          <p:nvPr/>
        </p:nvSpPr>
        <p:spPr>
          <a:xfrm>
            <a:off x="3611880" y="1810512"/>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361188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420624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Baseline</a:t>
            </a:r>
            <a:endParaRPr lang="en-US" sz="1900" dirty="0"/>
          </a:p>
        </p:txBody>
      </p:sp>
      <p:sp>
        <p:nvSpPr>
          <p:cNvPr id="17" name="Text 14"/>
          <p:cNvSpPr txBox="1"/>
          <p:nvPr/>
        </p:nvSpPr>
        <p:spPr>
          <a:xfrm>
            <a:off x="3611880" y="2377440"/>
            <a:ext cx="2148840" cy="822960"/>
          </a:xfrm>
          <a:prstGeom prst="rect">
            <a:avLst/>
          </a:prstGeom>
          <a:noFill/>
          <a:ln/>
        </p:spPr>
        <p:txBody>
          <a:bodyPr wrap="square" lIns="0" tIns="0" rIns="0" bIns="0" rtlCol="0" anchor="t"/>
          <a:lstStyle/>
          <a:p>
            <a:pPr indent="0" marL="0">
              <a:buNone/>
            </a:pPr>
            <a:r>
              <a:rPr lang="en-US" sz="1300" dirty="0">
                <a:solidFill>
                  <a:schemeClr val="tx2"/>
                </a:solidFill>
              </a:rPr>
              <a:t>20 s of mixed traffic, including awkward inputs</a:t>
            </a:r>
            <a:endParaRPr lang="en-US" sz="1300" dirty="0"/>
          </a:p>
        </p:txBody>
      </p:sp>
      <p:sp>
        <p:nvSpPr>
          <p:cNvPr id="18" name="arrow"/>
          <p:cNvSpPr/>
          <p:nvPr/>
        </p:nvSpPr>
        <p:spPr>
          <a:xfrm>
            <a:off x="5943600" y="2446020"/>
            <a:ext cx="274320" cy="0"/>
          </a:xfrm>
          <a:prstGeom prst="line">
            <a:avLst/>
          </a:prstGeom>
          <a:noFill/>
          <a:ln w="15875">
            <a:solidFill>
              <a:srgbClr val="5A6072"/>
            </a:solidFill>
            <a:prstDash val="solid"/>
            <a:tailEnd type="triangle"/>
          </a:ln>
        </p:spPr>
      </p:sp>
      <p:sp>
        <p:nvSpPr>
          <p:cNvPr id="19" name="card"/>
          <p:cNvSpPr/>
          <p:nvPr/>
        </p:nvSpPr>
        <p:spPr>
          <a:xfrm>
            <a:off x="6217920" y="1645920"/>
            <a:ext cx="2560320" cy="16002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0" name="badge"/>
          <p:cNvSpPr/>
          <p:nvPr/>
        </p:nvSpPr>
        <p:spPr>
          <a:xfrm>
            <a:off x="6446520" y="181051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644652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704088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Deploy</a:t>
            </a:r>
            <a:endParaRPr lang="en-US" sz="1900" dirty="0"/>
          </a:p>
        </p:txBody>
      </p:sp>
      <p:sp>
        <p:nvSpPr>
          <p:cNvPr id="23" name="Text 20"/>
          <p:cNvSpPr txBox="1"/>
          <p:nvPr/>
        </p:nvSpPr>
        <p:spPr>
          <a:xfrm>
            <a:off x="6446520" y="2377440"/>
            <a:ext cx="2148840" cy="822960"/>
          </a:xfrm>
          <a:prstGeom prst="rect">
            <a:avLst/>
          </a:prstGeom>
          <a:noFill/>
          <a:ln/>
        </p:spPr>
        <p:txBody>
          <a:bodyPr wrap="square" lIns="0" tIns="0" rIns="0" bIns="0" rtlCol="0" anchor="t"/>
          <a:lstStyle/>
          <a:p>
            <a:pPr indent="0" marL="0">
              <a:buNone/>
            </a:pPr>
            <a:r>
              <a:rPr lang="en-US" sz="1300" dirty="0">
                <a:solidFill>
                  <a:schemeClr val="tx2"/>
                </a:solidFill>
              </a:rPr>
              <a:t>4 git commits: 1 fault + 3 decoys, seeded order, &gt;=1 decoy in the same service</a:t>
            </a:r>
            <a:endParaRPr lang="en-US" sz="1300" dirty="0"/>
          </a:p>
        </p:txBody>
      </p:sp>
      <p:sp>
        <p:nvSpPr>
          <p:cNvPr id="24" name="arrow"/>
          <p:cNvSpPr/>
          <p:nvPr/>
        </p:nvSpPr>
        <p:spPr>
          <a:xfrm>
            <a:off x="8778240" y="2446020"/>
            <a:ext cx="274320" cy="0"/>
          </a:xfrm>
          <a:prstGeom prst="line">
            <a:avLst/>
          </a:prstGeom>
          <a:noFill/>
          <a:ln w="15875">
            <a:solidFill>
              <a:srgbClr val="5A6072"/>
            </a:solidFill>
            <a:prstDash val="solid"/>
            <a:tailEnd type="triangle"/>
          </a:ln>
        </p:spPr>
      </p:sp>
      <p:sp>
        <p:nvSpPr>
          <p:cNvPr id="25" name="card"/>
          <p:cNvSpPr/>
          <p:nvPr/>
        </p:nvSpPr>
        <p:spPr>
          <a:xfrm>
            <a:off x="9052560" y="1645920"/>
            <a:ext cx="2560320" cy="16002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6" name="badge"/>
          <p:cNvSpPr/>
          <p:nvPr/>
        </p:nvSpPr>
        <p:spPr>
          <a:xfrm>
            <a:off x="9281160" y="1810512"/>
            <a:ext cx="457200" cy="457200"/>
          </a:xfrm>
          <a:prstGeom prst="ellipse">
            <a:avLst/>
          </a:prstGeom>
          <a:solidFill>
            <a:schemeClr val="accent1"/>
          </a:solidFill>
          <a:ln w="12700">
            <a:solidFill>
              <a:schemeClr val="accent1"/>
            </a:solidFill>
            <a:prstDash val="solid"/>
          </a:ln>
        </p:spPr>
      </p:sp>
      <p:sp>
        <p:nvSpPr>
          <p:cNvPr id="27" name="Text 24"/>
          <p:cNvSpPr txBox="1"/>
          <p:nvPr/>
        </p:nvSpPr>
        <p:spPr>
          <a:xfrm>
            <a:off x="928116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8" name="Text 25"/>
          <p:cNvSpPr txBox="1"/>
          <p:nvPr/>
        </p:nvSpPr>
        <p:spPr>
          <a:xfrm>
            <a:off x="987552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Incident</a:t>
            </a:r>
            <a:endParaRPr lang="en-US" sz="1900" dirty="0"/>
          </a:p>
        </p:txBody>
      </p:sp>
      <p:sp>
        <p:nvSpPr>
          <p:cNvPr id="29" name="Text 26"/>
          <p:cNvSpPr txBox="1"/>
          <p:nvPr/>
        </p:nvSpPr>
        <p:spPr>
          <a:xfrm>
            <a:off x="9281160" y="2377440"/>
            <a:ext cx="2148840" cy="822960"/>
          </a:xfrm>
          <a:prstGeom prst="rect">
            <a:avLst/>
          </a:prstGeom>
          <a:noFill/>
          <a:ln/>
        </p:spPr>
        <p:txBody>
          <a:bodyPr wrap="square" lIns="0" tIns="0" rIns="0" bIns="0" rtlCol="0" anchor="t"/>
          <a:lstStyle/>
          <a:p>
            <a:pPr indent="0" marL="0">
              <a:buNone/>
            </a:pPr>
            <a:r>
              <a:rPr lang="en-US" sz="1300" dirty="0">
                <a:solidFill>
                  <a:schemeClr val="tx2"/>
                </a:solidFill>
              </a:rPr>
              <a:t>restart changed services, same 20 s traffic (4x on orders for H03)</a:t>
            </a:r>
            <a:endParaRPr lang="en-US" sz="1300" dirty="0"/>
          </a:p>
        </p:txBody>
      </p:sp>
      <p:sp>
        <p:nvSpPr>
          <p:cNvPr id="30" name="card"/>
          <p:cNvSpPr/>
          <p:nvPr/>
        </p:nvSpPr>
        <p:spPr>
          <a:xfrm>
            <a:off x="548640" y="3566160"/>
            <a:ext cx="356616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31" name="Text 28"/>
          <p:cNvSpPr txBox="1"/>
          <p:nvPr/>
        </p:nvSpPr>
        <p:spPr>
          <a:xfrm>
            <a:off x="777240" y="3730752"/>
            <a:ext cx="82296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12</a:t>
            </a:r>
            <a:endParaRPr lang="en-US" sz="4000" dirty="0"/>
          </a:p>
        </p:txBody>
      </p:sp>
      <p:sp>
        <p:nvSpPr>
          <p:cNvPr id="32" name="Text 29"/>
          <p:cNvSpPr txBox="1"/>
          <p:nvPr/>
        </p:nvSpPr>
        <p:spPr>
          <a:xfrm>
            <a:off x="1828800" y="3749040"/>
            <a:ext cx="2103120" cy="502920"/>
          </a:xfrm>
          <a:prstGeom prst="rect">
            <a:avLst/>
          </a:prstGeom>
          <a:noFill/>
          <a:ln/>
        </p:spPr>
        <p:txBody>
          <a:bodyPr wrap="square" lIns="0" tIns="0" rIns="0" bIns="0" rtlCol="0" anchor="t"/>
          <a:lstStyle/>
          <a:p>
            <a:pPr indent="0" marL="0">
              <a:buNone/>
            </a:pPr>
            <a:r>
              <a:rPr lang="en-US" sz="1500" dirty="0">
                <a:solidFill>
                  <a:schemeClr val="tx1"/>
                </a:solidFill>
              </a:rPr>
              <a:t>injected faults</a:t>
            </a:r>
            <a:endParaRPr lang="en-US" sz="1500" dirty="0"/>
          </a:p>
        </p:txBody>
      </p:sp>
      <p:sp>
        <p:nvSpPr>
          <p:cNvPr id="33" name="Text 30"/>
          <p:cNvSpPr txBox="1"/>
          <p:nvPr/>
        </p:nvSpPr>
        <p:spPr>
          <a:xfrm>
            <a:off x="1828800" y="4279392"/>
            <a:ext cx="2103120" cy="365760"/>
          </a:xfrm>
          <a:prstGeom prst="rect">
            <a:avLst/>
          </a:prstGeom>
          <a:noFill/>
          <a:ln/>
        </p:spPr>
        <p:txBody>
          <a:bodyPr wrap="square" lIns="0" tIns="0" rIns="0" bIns="0" rtlCol="0" anchor="t"/>
          <a:lstStyle/>
          <a:p>
            <a:pPr indent="0" marL="0">
              <a:buNone/>
            </a:pPr>
            <a:r>
              <a:rPr lang="en-US" sz="1100" dirty="0">
                <a:solidFill>
                  <a:schemeClr val="tx2"/>
                </a:solidFill>
              </a:rPr>
              <a:t>latency, CPU, memory, errors across 3 services</a:t>
            </a:r>
            <a:endParaRPr lang="en-US" sz="1100" dirty="0"/>
          </a:p>
        </p:txBody>
      </p:sp>
      <p:sp>
        <p:nvSpPr>
          <p:cNvPr id="34" name="card"/>
          <p:cNvSpPr/>
          <p:nvPr/>
        </p:nvSpPr>
        <p:spPr>
          <a:xfrm>
            <a:off x="4297680" y="3566160"/>
            <a:ext cx="356616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35" name="Text 32"/>
          <p:cNvSpPr txBox="1"/>
          <p:nvPr/>
        </p:nvSpPr>
        <p:spPr>
          <a:xfrm>
            <a:off x="4526280" y="3730752"/>
            <a:ext cx="82296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36" name="Text 33"/>
          <p:cNvSpPr txBox="1"/>
          <p:nvPr/>
        </p:nvSpPr>
        <p:spPr>
          <a:xfrm>
            <a:off x="5577840" y="3749040"/>
            <a:ext cx="2103120" cy="502920"/>
          </a:xfrm>
          <a:prstGeom prst="rect">
            <a:avLst/>
          </a:prstGeom>
          <a:noFill/>
          <a:ln/>
        </p:spPr>
        <p:txBody>
          <a:bodyPr wrap="square" lIns="0" tIns="0" rIns="0" bIns="0" rtlCol="0" anchor="t"/>
          <a:lstStyle/>
          <a:p>
            <a:pPr indent="0" marL="0">
              <a:buNone/>
            </a:pPr>
            <a:r>
              <a:rPr lang="en-US" sz="1500" dirty="0">
                <a:solidFill>
                  <a:schemeClr val="tx1"/>
                </a:solidFill>
              </a:rPr>
              <a:t>controls</a:t>
            </a:r>
            <a:endParaRPr lang="en-US" sz="1500" dirty="0"/>
          </a:p>
        </p:txBody>
      </p:sp>
      <p:sp>
        <p:nvSpPr>
          <p:cNvPr id="37" name="Text 34"/>
          <p:cNvSpPr txBox="1"/>
          <p:nvPr/>
        </p:nvSpPr>
        <p:spPr>
          <a:xfrm>
            <a:off x="5577840" y="4279392"/>
            <a:ext cx="2103120" cy="365760"/>
          </a:xfrm>
          <a:prstGeom prst="rect">
            <a:avLst/>
          </a:prstGeom>
          <a:noFill/>
          <a:ln/>
        </p:spPr>
        <p:txBody>
          <a:bodyPr wrap="square" lIns="0" tIns="0" rIns="0" bIns="0" rtlCol="0" anchor="t"/>
          <a:lstStyle/>
          <a:p>
            <a:pPr indent="0" marL="0">
              <a:buNone/>
            </a:pPr>
            <a:r>
              <a:rPr lang="en-US" sz="1100" dirty="0">
                <a:solidFill>
                  <a:schemeClr val="tx2"/>
                </a:solidFill>
              </a:rPr>
              <a:t>docs-only deploy, neutral refactor, 4x traffic surge</a:t>
            </a:r>
            <a:endParaRPr lang="en-US" sz="1100" dirty="0"/>
          </a:p>
        </p:txBody>
      </p:sp>
      <p:sp>
        <p:nvSpPr>
          <p:cNvPr id="38" name="card"/>
          <p:cNvSpPr/>
          <p:nvPr/>
        </p:nvSpPr>
        <p:spPr>
          <a:xfrm>
            <a:off x="8046720" y="3566160"/>
            <a:ext cx="356616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39" name="Text 36"/>
          <p:cNvSpPr txBox="1"/>
          <p:nvPr/>
        </p:nvSpPr>
        <p:spPr>
          <a:xfrm>
            <a:off x="8275320" y="3730752"/>
            <a:ext cx="82296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45</a:t>
            </a:r>
            <a:endParaRPr lang="en-US" sz="4000" dirty="0"/>
          </a:p>
        </p:txBody>
      </p:sp>
      <p:sp>
        <p:nvSpPr>
          <p:cNvPr id="40" name="Text 37"/>
          <p:cNvSpPr txBox="1"/>
          <p:nvPr/>
        </p:nvSpPr>
        <p:spPr>
          <a:xfrm>
            <a:off x="9326880" y="3749040"/>
            <a:ext cx="2103120" cy="502920"/>
          </a:xfrm>
          <a:prstGeom prst="rect">
            <a:avLst/>
          </a:prstGeom>
          <a:noFill/>
          <a:ln/>
        </p:spPr>
        <p:txBody>
          <a:bodyPr wrap="square" lIns="0" tIns="0" rIns="0" bIns="0" rtlCol="0" anchor="t"/>
          <a:lstStyle/>
          <a:p>
            <a:pPr indent="0" marL="0">
              <a:buNone/>
            </a:pPr>
            <a:r>
              <a:rPr lang="en-US" sz="1500" dirty="0">
                <a:solidFill>
                  <a:schemeClr val="tx1"/>
                </a:solidFill>
              </a:rPr>
              <a:t>live recordings</a:t>
            </a:r>
            <a:endParaRPr lang="en-US" sz="1500" dirty="0"/>
          </a:p>
        </p:txBody>
      </p:sp>
      <p:sp>
        <p:nvSpPr>
          <p:cNvPr id="41" name="Text 38"/>
          <p:cNvSpPr txBox="1"/>
          <p:nvPr/>
        </p:nvSpPr>
        <p:spPr>
          <a:xfrm>
            <a:off x="9326880" y="4279392"/>
            <a:ext cx="2103120" cy="365760"/>
          </a:xfrm>
          <a:prstGeom prst="rect">
            <a:avLst/>
          </a:prstGeom>
          <a:noFill/>
          <a:ln/>
        </p:spPr>
        <p:txBody>
          <a:bodyPr wrap="square" lIns="0" tIns="0" rIns="0" bIns="0" rtlCol="0" anchor="t"/>
          <a:lstStyle/>
          <a:p>
            <a:pPr indent="0" marL="0">
              <a:buNone/>
            </a:pPr>
            <a:r>
              <a:rPr lang="en-US" sz="1100" dirty="0">
                <a:solidFill>
                  <a:schemeClr val="tx2"/>
                </a:solidFill>
              </a:rPr>
              <a:t>3 seeds; seed 0 = development, others held out</a:t>
            </a:r>
            <a:endParaRPr lang="en-US" sz="1100" dirty="0"/>
          </a:p>
        </p:txBody>
      </p:sp>
      <p:sp>
        <p:nvSpPr>
          <p:cNvPr id="42" name="card"/>
          <p:cNvSpPr/>
          <p:nvPr/>
        </p:nvSpPr>
        <p:spPr>
          <a:xfrm>
            <a:off x="548640" y="5029200"/>
            <a:ext cx="11064240" cy="1097280"/>
          </a:xfrm>
          <a:prstGeom prst="rect">
            <a:avLst/>
          </a:prstGeom>
          <a:solidFill>
            <a:schemeClr val="accent4"/>
          </a:solidFill>
          <a:ln w="9525">
            <a:solidFill>
              <a:schemeClr val="accent4"/>
            </a:solidFill>
            <a:prstDash val="solid"/>
          </a:ln>
        </p:spPr>
      </p:sp>
      <p:sp>
        <p:nvSpPr>
          <p:cNvPr id="43" name="Text 40"/>
          <p:cNvSpPr txBox="1"/>
          <p:nvPr/>
        </p:nvSpPr>
        <p:spPr>
          <a:xfrm>
            <a:off x="777240" y="5074920"/>
            <a:ext cx="10607040" cy="1005840"/>
          </a:xfrm>
          <a:prstGeom prst="rect">
            <a:avLst/>
          </a:prstGeom>
          <a:noFill/>
          <a:ln/>
        </p:spPr>
        <p:txBody>
          <a:bodyPr wrap="square" lIns="0" tIns="0" rIns="0" bIns="0" rtlCol="0" anchor="ctr"/>
          <a:lstStyle/>
          <a:p>
            <a:pPr indent="0" marL="0">
              <a:buNone/>
            </a:pPr>
            <a:r>
              <a:rPr lang="en-US" sz="1400" dirty="0">
                <a:solidFill>
                  <a:schemeClr val="tx1"/>
                </a:solidFill>
              </a:rPr>
              <a:t>Ground truth per fault: the faulty file and line range (from the patch) and a known-good version (the deployment with only the faulty commit reverted). The registry (services.yaml) maps every path and process to a service and an owner.</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EXPERIMENT: FAULT CATALOG</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Twelve realistic faults and three controls</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P1 | Akash</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440680" cy="914400"/>
        </p:xfrm>
        <a:graphic>
          <a:graphicData uri="http://schemas.openxmlformats.org/drawingml/2006/table">
            <a:tbl>
              <a:tblPr/>
              <a:tblGrid>
                <a:gridCol w="548640"/>
                <a:gridCol w="1051560"/>
                <a:gridCol w="2926080"/>
                <a:gridCol w="9144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Fault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F01</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N+1 customer lookup per order</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F02</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quadratic bundle-discount loop</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cpu</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F03</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inventory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unbounded view history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F04</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inventory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KeyError on unknown SKU</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errors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F05</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payments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gateway timeout raised 10x (config)</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F06</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payments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connection pool bypassed</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F07</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payments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catastrophic regex backtracking</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cpu</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F08</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whole table serialised per request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cpu</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172200" y="1600200"/>
          <a:ext cx="5440680" cy="914400"/>
        </p:xfrm>
        <a:graphic>
          <a:graphicData uri="http://schemas.openxmlformats.org/drawingml/2006/table">
            <a:tbl>
              <a:tblPr/>
              <a:tblGrid>
                <a:gridCol w="548640"/>
                <a:gridCol w="1051560"/>
                <a:gridCol w="2926080"/>
                <a:gridCol w="9144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Fault / control</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F09</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inventory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lock held during audit write</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F10</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division by zero on empty cart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errors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F11</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payments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refund reason assumed present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errors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F12</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full table scan on order lookup</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H01</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payments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docs-only deployment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H02</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inventory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behaviour-neutral refactor</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H03</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4x traffic surge, no code change</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400" i="1" dirty="0">
                <a:solidFill>
                  <a:schemeClr val="accent1"/>
                </a:solidFill>
              </a:rPr>
              <a:t>Commit messages are innocent ("Load customer profile next to each order"), so the message alone does not give the answer away.</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METHODOLOGY: STEPS 1-2</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Per-tenant telemetry, robust detection</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P1 | Akash</a:t>
            </a:r>
            <a:endParaRPr lang="en-US" sz="1200" dirty="0"/>
          </a:p>
        </p:txBody>
      </p:sp>
      <p:sp>
        <p:nvSpPr>
          <p:cNvPr id="7" name="card"/>
          <p:cNvSpPr/>
          <p:nvPr/>
        </p:nvSpPr>
        <p:spPr>
          <a:xfrm>
            <a:off x="548640" y="1600200"/>
            <a:ext cx="5440680" cy="4069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Text 5"/>
          <p:cNvSpPr txBox="1"/>
          <p:nvPr/>
        </p:nvSpPr>
        <p:spPr>
          <a:xfrm>
            <a:off x="777240" y="1737360"/>
            <a:ext cx="502920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  Collect (every second)</a:t>
            </a:r>
            <a:endParaRPr lang="en-US" sz="2000" dirty="0"/>
          </a:p>
        </p:txBody>
      </p:sp>
      <p:sp>
        <p:nvSpPr>
          <p:cNvPr id="9" name="Text 6"/>
          <p:cNvSpPr txBox="1"/>
          <p:nvPr/>
        </p:nvSpPr>
        <p:spPr>
          <a:xfrm>
            <a:off x="777240" y="2286000"/>
            <a:ext cx="5029200" cy="32918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Per route: p50 / p95 / max latency and 5xx count (FastAPI middleware)</a:t>
            </a:r>
            <a:endParaRPr lang="en-US" sz="1500" dirty="0"/>
          </a:p>
          <a:p>
            <a:pPr marL="203200" indent="-203200">
              <a:spcAft>
                <a:spcPts val="600"/>
              </a:spcAft>
              <a:buSzPct val="100000"/>
              <a:buChar char="•"/>
            </a:pPr>
            <a:r>
              <a:rPr lang="en-US" sz="1500" dirty="0">
                <a:solidFill>
                  <a:schemeClr val="tx1"/>
                </a:solidFill>
              </a:rPr>
              <a:t>Per process: CPU % and RSS of each tenant (psutil)</a:t>
            </a:r>
            <a:endParaRPr lang="en-US" sz="1500" dirty="0"/>
          </a:p>
          <a:p>
            <a:pPr marL="203200" indent="-203200">
              <a:spcAft>
                <a:spcPts val="600"/>
              </a:spcAft>
              <a:buSzPct val="100000"/>
              <a:buChar char="•"/>
            </a:pPr>
            <a:r>
              <a:rPr lang="en-US" sz="1500" dirty="0">
                <a:solidFill>
                  <a:schemeClr val="tx1"/>
                </a:solidFill>
              </a:rPr>
              <a:t>Exceptions with stack frames inside our code</a:t>
            </a:r>
            <a:endParaRPr lang="en-US" sz="1500" dirty="0"/>
          </a:p>
          <a:p>
            <a:pPr marL="203200" indent="-203200">
              <a:spcAft>
                <a:spcPts val="600"/>
              </a:spcAft>
              <a:buSzPct val="100000"/>
              <a:buChar char="•"/>
            </a:pPr>
            <a:r>
              <a:rPr lang="en-US" sz="1500" dirty="0">
                <a:solidFill>
                  <a:schemeClr val="tx1"/>
                </a:solidFill>
              </a:rPr>
              <a:t>Up to 20 slow or failed requests + 1 normal request per route, for replay in step 6</a:t>
            </a:r>
            <a:endParaRPr lang="en-US" sz="1500" dirty="0"/>
          </a:p>
          <a:p>
            <a:pPr marL="203200" indent="-203200">
              <a:spcAft>
                <a:spcPts val="600"/>
              </a:spcAft>
              <a:buSzPct val="100000"/>
              <a:buChar char="•"/>
            </a:pPr>
            <a:r>
              <a:rPr lang="en-US" sz="1500" dirty="0">
                <a:solidFill>
                  <a:schemeClr val="tx1"/>
                </a:solidFill>
              </a:rPr>
              <a:t>services.yaml: path, port and owner of every tenant</a:t>
            </a:r>
            <a:endParaRPr lang="en-US" sz="1500" dirty="0"/>
          </a:p>
        </p:txBody>
      </p:sp>
      <p:sp>
        <p:nvSpPr>
          <p:cNvPr id="10" name="card"/>
          <p:cNvSpPr/>
          <p:nvPr/>
        </p:nvSpPr>
        <p:spPr>
          <a:xfrm>
            <a:off x="6172200" y="1600200"/>
            <a:ext cx="5440680" cy="4069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1" name="Text 8"/>
          <p:cNvSpPr txBox="1"/>
          <p:nvPr/>
        </p:nvSpPr>
        <p:spPr>
          <a:xfrm>
            <a:off x="6400800" y="1737360"/>
            <a:ext cx="502920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  Detect (after vs before the change)</a:t>
            </a:r>
            <a:endParaRPr lang="en-US" sz="2000" dirty="0"/>
          </a:p>
        </p:txBody>
      </p:sp>
      <p:sp>
        <p:nvSpPr>
          <p:cNvPr id="12" name="Text 9"/>
          <p:cNvSpPr txBox="1"/>
          <p:nvPr/>
        </p:nvSpPr>
        <p:spPr>
          <a:xfrm>
            <a:off x="6400800" y="2286000"/>
            <a:ext cx="5029200" cy="32918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Robust z = (x - median) / max(1.4826 MAD, floor), fire at z &gt;= 6</a:t>
            </a:r>
            <a:endParaRPr lang="en-US" sz="1500" dirty="0"/>
          </a:p>
          <a:p>
            <a:pPr marL="203200" indent="-203200">
              <a:spcAft>
                <a:spcPts val="600"/>
              </a:spcAft>
              <a:buSzPct val="100000"/>
              <a:buChar char="•"/>
            </a:pPr>
            <a:r>
              <a:rPr lang="en-US" sz="1500" dirty="0">
                <a:solidFill>
                  <a:schemeClr val="tx1"/>
                </a:solidFill>
              </a:rPr>
              <a:t>Plus a minimum real change: latency +15 ms and +50%, errors +2 pp, CPU +15</a:t>
            </a:r>
            <a:endParaRPr lang="en-US" sz="1500" dirty="0"/>
          </a:p>
          <a:p>
            <a:pPr marL="203200" indent="-203200">
              <a:spcAft>
                <a:spcPts val="600"/>
              </a:spcAft>
              <a:buSzPct val="100000"/>
              <a:buChar char="•"/>
            </a:pPr>
            <a:r>
              <a:rPr lang="en-US" sz="1500" dirty="0">
                <a:solidFill>
                  <a:schemeClr val="tx1"/>
                </a:solidFill>
              </a:rPr>
              <a:t>&gt;= 3 anomalous buckets, and 30 pp more often than before the change (stops bursty routes)</a:t>
            </a:r>
            <a:endParaRPr lang="en-US" sz="1500" dirty="0"/>
          </a:p>
          <a:p>
            <a:pPr marL="203200" indent="-203200">
              <a:spcAft>
                <a:spcPts val="600"/>
              </a:spcAft>
              <a:buSzPct val="100000"/>
              <a:buChar char="•"/>
            </a:pPr>
            <a:r>
              <a:rPr lang="en-US" sz="1500" dirty="0">
                <a:solidFill>
                  <a:schemeClr val="tx1"/>
                </a:solidFill>
              </a:rPr>
              <a:t>Memory: &gt;= 10 MiB growth with positive Theil-Sen slope</a:t>
            </a:r>
            <a:endParaRPr lang="en-US" sz="1500" dirty="0"/>
          </a:p>
          <a:p>
            <a:pPr marL="203200" indent="-203200">
              <a:spcAft>
                <a:spcPts val="600"/>
              </a:spcAft>
              <a:buSzPct val="100000"/>
              <a:buChar char="•"/>
            </a:pPr>
            <a:r>
              <a:rPr lang="en-US" sz="1500" dirty="0">
                <a:solidFill>
                  <a:schemeClr val="tx1"/>
                </a:solidFill>
              </a:rPr>
              <a:t>Traffic up alone is not an incident; too little data is "cannot conclude"</a:t>
            </a:r>
            <a:endParaRPr lang="en-US" sz="1500" dirty="0"/>
          </a:p>
        </p:txBody>
      </p:sp>
      <p:sp>
        <p:nvSpPr>
          <p:cNvPr id="13" name="Text 10"/>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chemeClr val="accent1"/>
                </a:solidFill>
              </a:rPr>
              <a:t>Baseline: fixed alert rules (p95 &gt; 500 ms, errors &gt; 5%, CPU &gt; 80%, RSS &gt; 500 MiB), no baseline period, no persistence.</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 DETECTION</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Robust detection versus fixed alert thresholds</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P1 | Akash</a:t>
            </a:r>
            <a:endParaRPr lang="en-US" sz="1200" dirty="0"/>
          </a:p>
        </p:txBody>
      </p:sp>
      <p:graphicFrame>
        <p:nvGraphicFramePr>
          <p:cNvPr id="7" name="Chart 0" descr=""/>
          <p:cNvGraphicFramePr/>
          <p:nvPr/>
        </p:nvGraphicFramePr>
        <p:xfrm>
          <a:off x="548640" y="1554480"/>
          <a:ext cx="64008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223760" y="1691640"/>
          <a:ext cx="4389120" cy="914400"/>
        </p:xfrm>
        <a:graphic>
          <a:graphicData uri="http://schemas.openxmlformats.org/drawingml/2006/table">
            <a:tbl>
              <a:tblPr/>
              <a:tblGrid>
                <a:gridCol w="1828800"/>
                <a:gridCol w="1280160"/>
                <a:gridCol w="12801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Fault class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Robust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cpu</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errors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bl>
          </a:graphicData>
        </a:graphic>
      </p:graphicFrame>
      <p:sp>
        <p:nvSpPr>
          <p:cNvPr id="9" name="card"/>
          <p:cNvSpPr/>
          <p:nvPr/>
        </p:nvSpPr>
        <p:spPr>
          <a:xfrm>
            <a:off x="7223760" y="3977640"/>
            <a:ext cx="4389120" cy="1783080"/>
          </a:xfrm>
          <a:prstGeom prst="rect">
            <a:avLst/>
          </a:prstGeom>
          <a:solidFill>
            <a:schemeClr val="accent4"/>
          </a:solidFill>
          <a:ln w="9525">
            <a:solidFill>
              <a:schemeClr val="accent4"/>
            </a:solidFill>
            <a:prstDash val="solid"/>
          </a:ln>
        </p:spPr>
      </p:sp>
      <p:sp>
        <p:nvSpPr>
          <p:cNvPr id="10" name="Text 5"/>
          <p:cNvSpPr txBox="1"/>
          <p:nvPr/>
        </p:nvSpPr>
        <p:spPr>
          <a:xfrm>
            <a:off x="7406640" y="4069080"/>
            <a:ext cx="4023360" cy="1600200"/>
          </a:xfrm>
          <a:prstGeom prst="rect">
            <a:avLst/>
          </a:prstGeom>
          <a:noFill/>
          <a:ln/>
        </p:spPr>
        <p:txBody>
          <a:bodyPr wrap="square" lIns="0" tIns="0" rIns="0" bIns="0" rtlCol="0" anchor="ctr"/>
          <a:lstStyle/>
          <a:p>
            <a:pPr indent="0" marL="0">
              <a:buNone/>
            </a:pPr>
            <a:r>
              <a:rPr lang="en-US" sz="1400" b="1" dirty="0">
                <a:solidFill>
                  <a:schemeClr val="tx1"/>
                </a:solidFill>
              </a:rPr>
              <a:t>Thresholds only caught error faults: latency rose to 85-400 ms, under a 500 ms alert. The price of sensitivity: 2 of 6 quiet controls raised an incident.</a:t>
            </a:r>
            <a:endParaRPr lang="en-US" sz="1400" dirty="0"/>
          </a:p>
        </p:txBody>
      </p:sp>
      <p:sp>
        <p:nvSpPr>
          <p:cNvPr id="11" name="Text 6"/>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100" dirty="0">
                <a:solidFill>
                  <a:schemeClr val="tx2"/>
                </a:solidFill>
              </a:rPr>
              <a:t>n = 36 fault runs, 9 control runs (3 seeds).</a:t>
            </a:r>
            <a:endParaRPr lang="en-US" sz="11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METHODOLOGY: STEPS 3-4</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Evidence packet and a structure-aware index</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tx1"/>
                </a:solidFill>
              </a:rPr>
              <a:t>P2 | Aryan</a:t>
            </a:r>
            <a:endParaRPr lang="en-US" sz="1200" dirty="0"/>
          </a:p>
        </p:txBody>
      </p:sp>
      <p:sp>
        <p:nvSpPr>
          <p:cNvPr id="7" name="card"/>
          <p:cNvSpPr/>
          <p:nvPr/>
        </p:nvSpPr>
        <p:spPr>
          <a:xfrm>
            <a:off x="548640" y="1600200"/>
            <a:ext cx="5440680" cy="420624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Text 5"/>
          <p:cNvSpPr txBox="1"/>
          <p:nvPr/>
        </p:nvSpPr>
        <p:spPr>
          <a:xfrm>
            <a:off x="777240" y="1737360"/>
            <a:ext cx="5029200" cy="411480"/>
          </a:xfrm>
          <a:prstGeom prst="rect">
            <a:avLst/>
          </a:prstGeom>
          <a:noFill/>
          <a:ln/>
        </p:spPr>
        <p:txBody>
          <a:bodyPr wrap="square" lIns="0" tIns="0" rIns="0" bIns="0" rtlCol="0" anchor="t"/>
          <a:lstStyle/>
          <a:p>
            <a:pPr indent="0" marL="0">
              <a:buNone/>
            </a:pPr>
            <a:r>
              <a:rPr lang="en-US" sz="2000" b="1" dirty="0">
                <a:solidFill>
                  <a:srgbClr val="E07A2E"/>
                </a:solidFill>
                <a:latin typeface="Cambria" pitchFamily="34" charset="0"/>
                <a:ea typeface="Cambria" pitchFamily="34" charset="-122"/>
                <a:cs typeface="Cambria" pitchFamily="34" charset="-120"/>
              </a:rPr>
              <a:t>3  Evidence packet</a:t>
            </a:r>
            <a:endParaRPr lang="en-US" sz="2000" dirty="0"/>
          </a:p>
        </p:txBody>
      </p:sp>
      <p:sp>
        <p:nvSpPr>
          <p:cNvPr id="9" name="Text 6"/>
          <p:cNvSpPr txBox="1"/>
          <p:nvPr/>
        </p:nvSpPr>
        <p:spPr>
          <a:xfrm>
            <a:off x="777240" y="2286000"/>
            <a:ext cx="5029200" cy="3474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Anomalous signals and routes of one service, its owner and code path</a:t>
            </a:r>
            <a:endParaRPr lang="en-US" sz="1500" dirty="0"/>
          </a:p>
          <a:p>
            <a:pPr marL="203200" indent="-203200">
              <a:spcAft>
                <a:spcPts val="600"/>
              </a:spcAft>
              <a:buSzPct val="100000"/>
              <a:buChar char="•"/>
            </a:pPr>
            <a:r>
              <a:rPr lang="en-US" sz="1500" dirty="0">
                <a:solidFill>
                  <a:schemeClr val="tx1"/>
                </a:solidFill>
              </a:rPr>
              <a:t>Exceptions in the window, grouped, with stack frames</a:t>
            </a:r>
            <a:endParaRPr lang="en-US" sz="1500" dirty="0"/>
          </a:p>
          <a:p>
            <a:pPr marL="203200" indent="-203200">
              <a:spcAft>
                <a:spcPts val="600"/>
              </a:spcAft>
              <a:buSzPct val="100000"/>
              <a:buChar char="•"/>
            </a:pPr>
            <a:r>
              <a:rPr lang="en-US" sz="1500" dirty="0">
                <a:solidFill>
                  <a:schemeClr val="tx1"/>
                </a:solidFill>
              </a:rPr>
              <a:t>Slow / failed request samples and one normal request per route</a:t>
            </a:r>
            <a:endParaRPr lang="en-US" sz="1500" dirty="0"/>
          </a:p>
          <a:p>
            <a:pPr marL="203200" indent="-203200">
              <a:spcAft>
                <a:spcPts val="600"/>
              </a:spcAft>
              <a:buSzPct val="100000"/>
              <a:buChar char="•"/>
            </a:pPr>
            <a:r>
              <a:rPr lang="en-US" sz="1500" dirty="0">
                <a:solidFill>
                  <a:schemeClr val="tx1"/>
                </a:solidFill>
              </a:rPr>
              <a:t>Deployment: commits, changed line ranges (git diff + blame)</a:t>
            </a:r>
            <a:endParaRPr lang="en-US" sz="1500" dirty="0"/>
          </a:p>
          <a:p>
            <a:pPr marL="203200" indent="-203200">
              <a:spcAft>
                <a:spcPts val="600"/>
              </a:spcAft>
              <a:buSzPct val="100000"/>
              <a:buChar char="•"/>
            </a:pPr>
            <a:r>
              <a:rPr lang="en-US" sz="1500" dirty="0">
                <a:solidFill>
                  <a:schemeClr val="tx1"/>
                </a:solidFill>
              </a:rPr>
              <a:t>Behavioural-diff flag: did the syntax tree change once comments and docstrings are removed?</a:t>
            </a:r>
            <a:endParaRPr lang="en-US" sz="1500" dirty="0"/>
          </a:p>
          <a:p>
            <a:pPr marL="203200" indent="-203200">
              <a:spcAft>
                <a:spcPts val="600"/>
              </a:spcAft>
              <a:buSzPct val="100000"/>
              <a:buChar char="•"/>
            </a:pPr>
            <a:r>
              <a:rPr lang="en-US" sz="1500" dirty="0">
                <a:solidFill>
                  <a:schemeClr val="tx1"/>
                </a:solidFill>
              </a:rPr>
              <a:t>Redaction of secrets and card numbers; SHA-256 digest for the audit trail</a:t>
            </a:r>
            <a:endParaRPr lang="en-US" sz="1500" dirty="0"/>
          </a:p>
        </p:txBody>
      </p:sp>
      <p:sp>
        <p:nvSpPr>
          <p:cNvPr id="10" name="card"/>
          <p:cNvSpPr/>
          <p:nvPr/>
        </p:nvSpPr>
        <p:spPr>
          <a:xfrm>
            <a:off x="6172200" y="1600200"/>
            <a:ext cx="5440680" cy="420624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1" name="Text 8"/>
          <p:cNvSpPr txBox="1"/>
          <p:nvPr/>
        </p:nvSpPr>
        <p:spPr>
          <a:xfrm>
            <a:off x="6400800" y="1737360"/>
            <a:ext cx="5029200" cy="411480"/>
          </a:xfrm>
          <a:prstGeom prst="rect">
            <a:avLst/>
          </a:prstGeom>
          <a:noFill/>
          <a:ln/>
        </p:spPr>
        <p:txBody>
          <a:bodyPr wrap="square" lIns="0" tIns="0" rIns="0" bIns="0" rtlCol="0" anchor="t"/>
          <a:lstStyle/>
          <a:p>
            <a:pPr indent="0" marL="0">
              <a:buNone/>
            </a:pPr>
            <a:r>
              <a:rPr lang="en-US" sz="2000" b="1" dirty="0">
                <a:solidFill>
                  <a:srgbClr val="E07A2E"/>
                </a:solidFill>
                <a:latin typeface="Cambria" pitchFamily="34" charset="0"/>
                <a:ea typeface="Cambria" pitchFamily="34" charset="-122"/>
                <a:cs typeface="Cambria" pitchFamily="34" charset="-120"/>
              </a:rPr>
              <a:t>4  Code index</a:t>
            </a:r>
            <a:endParaRPr lang="en-US" sz="2000" dirty="0"/>
          </a:p>
        </p:txBody>
      </p:sp>
      <p:sp>
        <p:nvSpPr>
          <p:cNvPr id="12" name="Text 9"/>
          <p:cNvSpPr txBox="1"/>
          <p:nvPr/>
        </p:nvSpPr>
        <p:spPr>
          <a:xfrm>
            <a:off x="6400800" y="2286000"/>
            <a:ext cx="5029200" cy="3474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Python ast: one chunk per function / method / module block, with line range</a:t>
            </a:r>
            <a:endParaRPr lang="en-US" sz="1500" dirty="0"/>
          </a:p>
          <a:p>
            <a:pPr marL="203200" indent="-203200">
              <a:spcAft>
                <a:spcPts val="600"/>
              </a:spcAft>
              <a:buSzPct val="100000"/>
              <a:buChar char="•"/>
            </a:pPr>
            <a:r>
              <a:rPr lang="en-US" sz="1500" dirty="0">
                <a:solidFill>
                  <a:schemeClr val="tx1"/>
                </a:solidFill>
              </a:rPr>
              <a:t>Routes from decorators: @app.get("/orders") -&gt; handler</a:t>
            </a:r>
            <a:endParaRPr lang="en-US" sz="1500" dirty="0"/>
          </a:p>
          <a:p>
            <a:pPr marL="203200" indent="-203200">
              <a:spcAft>
                <a:spcPts val="600"/>
              </a:spcAft>
              <a:buSzPct val="100000"/>
              <a:buChar char="•"/>
            </a:pPr>
            <a:r>
              <a:rPr lang="en-US" sz="1500" dirty="0">
                <a:solidFill>
                  <a:schemeClr val="tx1"/>
                </a:solidFill>
              </a:rPr>
              <a:t>Call / reference graph from names each chunk calls or reads</a:t>
            </a:r>
            <a:endParaRPr lang="en-US" sz="1500" dirty="0"/>
          </a:p>
          <a:p>
            <a:pPr marL="203200" indent="-203200">
              <a:spcAft>
                <a:spcPts val="600"/>
              </a:spcAft>
              <a:buSzPct val="100000"/>
              <a:buChar char="•"/>
            </a:pPr>
            <a:r>
              <a:rPr lang="en-US" sz="1500" dirty="0">
                <a:solidFill>
                  <a:schemeClr val="tx1"/>
                </a:solidFill>
              </a:rPr>
              <a:t>Lexical: BM25 over identifier-aware tokens (load_customer -&gt; load, customer)</a:t>
            </a:r>
            <a:endParaRPr lang="en-US" sz="1500" dirty="0"/>
          </a:p>
          <a:p>
            <a:pPr marL="203200" indent="-203200">
              <a:spcAft>
                <a:spcPts val="600"/>
              </a:spcAft>
              <a:buSzPct val="100000"/>
              <a:buChar char="•"/>
            </a:pPr>
            <a:r>
              <a:rPr lang="en-US" sz="1500" dirty="0">
                <a:solidFill>
                  <a:schemeClr val="tx1"/>
                </a:solidFill>
              </a:rPr>
              <a:t>Dense: BAAI/bge-small-en-v1.5 (384-d, ONNX on CPU via fastembed)</a:t>
            </a:r>
            <a:endParaRPr lang="en-US" sz="1500" dirty="0"/>
          </a:p>
          <a:p>
            <a:pPr marL="203200" indent="-203200">
              <a:spcAft>
                <a:spcPts val="600"/>
              </a:spcAft>
              <a:buSzPct val="100000"/>
              <a:buChar char="•"/>
            </a:pPr>
            <a:r>
              <a:rPr lang="en-US" sz="1500" dirty="0">
                <a:solidFill>
                  <a:schemeClr val="tx1"/>
                </a:solidFill>
              </a:rPr>
              <a:t>Only code of the affected tenant (+ shared code) is searched</a:t>
            </a:r>
            <a:endParaRPr lang="en-US" sz="15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METHODOLOGY: STEP 5</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Seven pieces of evidence, one ranked list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tx1"/>
                </a:solidFill>
              </a:rPr>
              <a:t>P2 | Aryan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583680" cy="914400"/>
        </p:xfrm>
        <a:graphic>
          <a:graphicData uri="http://schemas.openxmlformats.org/drawingml/2006/table">
            <a:tbl>
              <a:tblPr/>
              <a:tblGrid>
                <a:gridCol w="1463040"/>
                <a:gridCol w="4297680"/>
                <a:gridCol w="8229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trace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contains a stack frame of a logged exception</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call_path</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reachable from an anomalous route handler (1 / depth)</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changed_lines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overlaps a behaviour-changing line of the deployment</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is the handler of an anomalous route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lexical</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BM25 of the incident query</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dense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embedding similarity of the same query</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changed_file</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same file as a change, other lines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bl>
          </a:graphicData>
        </a:graphic>
      </p:graphicFrame>
      <p:sp>
        <p:nvSpPr>
          <p:cNvPr id="8" name="card"/>
          <p:cNvSpPr/>
          <p:nvPr/>
        </p:nvSpPr>
        <p:spPr>
          <a:xfrm>
            <a:off x="7315200" y="1600200"/>
            <a:ext cx="4297680" cy="214884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9" name="Text 5"/>
          <p:cNvSpPr txBox="1"/>
          <p:nvPr/>
        </p:nvSpPr>
        <p:spPr>
          <a:xfrm>
            <a:off x="7543800" y="1719072"/>
            <a:ext cx="3931920" cy="411480"/>
          </a:xfrm>
          <a:prstGeom prst="rect">
            <a:avLst/>
          </a:prstGeom>
          <a:noFill/>
          <a:ln/>
        </p:spPr>
        <p:txBody>
          <a:bodyPr wrap="square" lIns="0" tIns="0" rIns="0" bIns="0" rtlCol="0" anchor="t"/>
          <a:lstStyle/>
          <a:p>
            <a:pPr indent="0" marL="0">
              <a:buNone/>
            </a:pPr>
            <a:r>
              <a:rPr lang="en-US" sz="1800" b="1" dirty="0">
                <a:solidFill>
                  <a:srgbClr val="E07A2E"/>
                </a:solidFill>
                <a:latin typeface="Cambria" pitchFamily="34" charset="0"/>
                <a:ea typeface="Cambria" pitchFamily="34" charset="-122"/>
                <a:cs typeface="Cambria" pitchFamily="34" charset="-120"/>
              </a:rPr>
              <a:t>LLM re-rank (optional)</a:t>
            </a:r>
            <a:endParaRPr lang="en-US" sz="1800" dirty="0"/>
          </a:p>
        </p:txBody>
      </p:sp>
      <p:sp>
        <p:nvSpPr>
          <p:cNvPr id="10" name="Text 6"/>
          <p:cNvSpPr txBox="1"/>
          <p:nvPr/>
        </p:nvSpPr>
        <p:spPr>
          <a:xfrm>
            <a:off x="7543800" y="2194560"/>
            <a:ext cx="3931920" cy="15087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Top 8 candidates with code and evidence tags</a:t>
            </a:r>
            <a:endParaRPr lang="en-US" sz="1300" dirty="0"/>
          </a:p>
          <a:p>
            <a:pPr marL="203200" indent="-203200">
              <a:spcAft>
                <a:spcPts val="600"/>
              </a:spcAft>
              <a:buSzPct val="100000"/>
              <a:buChar char="•"/>
            </a:pPr>
            <a:r>
              <a:rPr lang="en-US" sz="1300" dirty="0">
                <a:solidFill>
                  <a:schemeClr val="tx1"/>
                </a:solidFill>
              </a:rPr>
              <a:t>JSON only; must use candidate ids; invalid -&gt; deterministic list</a:t>
            </a:r>
            <a:endParaRPr lang="en-US" sz="1300" dirty="0"/>
          </a:p>
          <a:p>
            <a:pPr marL="203200" indent="-203200">
              <a:spcAft>
                <a:spcPts val="600"/>
              </a:spcAft>
              <a:buSzPct val="100000"/>
              <a:buChar char="•"/>
            </a:pPr>
            <a:r>
              <a:rPr lang="en-US" sz="1300" dirty="0">
                <a:solidFill>
                  <a:schemeClr val="tx1"/>
                </a:solidFill>
              </a:rPr>
              <a:t>Packet is data, not instructions</a:t>
            </a:r>
            <a:endParaRPr lang="en-US" sz="1300" dirty="0"/>
          </a:p>
        </p:txBody>
      </p:sp>
      <p:sp>
        <p:nvSpPr>
          <p:cNvPr id="11" name="card"/>
          <p:cNvSpPr/>
          <p:nvPr/>
        </p:nvSpPr>
        <p:spPr>
          <a:xfrm>
            <a:off x="7315200" y="3931920"/>
            <a:ext cx="4297680" cy="1874520"/>
          </a:xfrm>
          <a:prstGeom prst="rect">
            <a:avLst/>
          </a:prstGeom>
          <a:solidFill>
            <a:schemeClr val="accent4"/>
          </a:solidFill>
          <a:ln w="9525">
            <a:solidFill>
              <a:schemeClr val="accent4"/>
            </a:solidFill>
            <a:prstDash val="solid"/>
          </a:ln>
        </p:spPr>
      </p:sp>
      <p:sp>
        <p:nvSpPr>
          <p:cNvPr id="12" name="Text 8"/>
          <p:cNvSpPr txBox="1"/>
          <p:nvPr/>
        </p:nvSpPr>
        <p:spPr>
          <a:xfrm>
            <a:off x="7543800" y="4023360"/>
            <a:ext cx="39319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Action decision</a:t>
            </a:r>
            <a:endParaRPr lang="en-US" sz="1800" dirty="0"/>
          </a:p>
        </p:txBody>
      </p:sp>
      <p:sp>
        <p:nvSpPr>
          <p:cNvPr id="13" name="Text 9"/>
          <p:cNvSpPr txBox="1"/>
          <p:nvPr/>
        </p:nvSpPr>
        <p:spPr>
          <a:xfrm>
            <a:off x="7543800" y="4434840"/>
            <a:ext cx="3931920" cy="1280160"/>
          </a:xfrm>
          <a:prstGeom prst="rect">
            <a:avLst/>
          </a:prstGeom>
          <a:noFill/>
          <a:ln/>
        </p:spPr>
        <p:txBody>
          <a:bodyPr wrap="square" lIns="0" tIns="0" rIns="0" bIns="0" rtlCol="0" anchor="t"/>
          <a:lstStyle/>
          <a:p>
            <a:pPr indent="0" marL="0">
              <a:buNone/>
            </a:pPr>
            <a:r>
              <a:rPr lang="en-US" sz="1300" dirty="0">
                <a:solidFill>
                  <a:schemeClr val="tx1"/>
                </a:solidFill>
              </a:rPr>
              <a:t>code_fix only with code evidence on the call path; capacity_scale only if traffic rose and no code evidence; otherwise investigate.</a:t>
            </a:r>
            <a:endParaRPr lang="en-US" sz="1300" dirty="0"/>
          </a:p>
        </p:txBody>
      </p:sp>
      <p:sp>
        <p:nvSpPr>
          <p:cNvPr id="14" name="Text 10"/>
          <p:cNvSpPr txBox="1"/>
          <p:nvPr/>
        </p:nvSpPr>
        <p:spPr>
          <a:xfrm>
            <a:off x="548640" y="5760720"/>
            <a:ext cx="6583680" cy="411480"/>
          </a:xfrm>
          <a:prstGeom prst="rect">
            <a:avLst/>
          </a:prstGeom>
          <a:noFill/>
          <a:ln/>
        </p:spPr>
        <p:txBody>
          <a:bodyPr wrap="square" lIns="0" tIns="0" rIns="0" bIns="0" rtlCol="0" anchor="t"/>
          <a:lstStyle/>
          <a:p>
            <a:pPr indent="0" marL="0">
              <a:buNone/>
            </a:pPr>
            <a:r>
              <a:rPr lang="en-US" sz="1300" i="1" dirty="0">
                <a:solidFill>
                  <a:schemeClr val="accent1"/>
                </a:solidFill>
              </a:rPr>
              <a:t>Incident query = symptom words + anomalous route paths + exception messages. Nothing from the answer is in it.</a:t>
            </a:r>
            <a:endParaRPr lang="en-US" sz="13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 LOCALISATION</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Hybrid tracing finds the faulty function first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tx1"/>
                </a:solidFill>
              </a:rPr>
              <a:t>P2 | Aryan</a:t>
            </a:r>
            <a:endParaRPr lang="en-US" sz="1200" dirty="0"/>
          </a:p>
        </p:txBody>
      </p:sp>
      <p:graphicFrame>
        <p:nvGraphicFramePr>
          <p:cNvPr id="7" name="Chart 0" descr=""/>
          <p:cNvGraphicFramePr/>
          <p:nvPr/>
        </p:nvGraphicFramePr>
        <p:xfrm>
          <a:off x="548640" y="150876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8321040" y="1600200"/>
            <a:ext cx="329184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9" name="Text 5"/>
          <p:cNvSpPr txBox="1"/>
          <p:nvPr/>
        </p:nvSpPr>
        <p:spPr>
          <a:xfrm>
            <a:off x="8549640" y="1764792"/>
            <a:ext cx="1152144"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85%</a:t>
            </a:r>
            <a:endParaRPr lang="en-US" sz="4000" dirty="0"/>
          </a:p>
        </p:txBody>
      </p:sp>
      <p:sp>
        <p:nvSpPr>
          <p:cNvPr id="10" name="Text 6"/>
          <p:cNvSpPr txBox="1"/>
          <p:nvPr/>
        </p:nvSpPr>
        <p:spPr>
          <a:xfrm>
            <a:off x="9930384" y="1783080"/>
            <a:ext cx="1499616" cy="502920"/>
          </a:xfrm>
          <a:prstGeom prst="rect">
            <a:avLst/>
          </a:prstGeom>
          <a:noFill/>
          <a:ln/>
        </p:spPr>
        <p:txBody>
          <a:bodyPr wrap="square" lIns="0" tIns="0" rIns="0" bIns="0" rtlCol="0" anchor="t"/>
          <a:lstStyle/>
          <a:p>
            <a:pPr indent="0" marL="0">
              <a:buNone/>
            </a:pPr>
            <a:r>
              <a:rPr lang="en-US" sz="1500" dirty="0">
                <a:solidFill>
                  <a:schemeClr val="tx1"/>
                </a:solidFill>
              </a:rPr>
              <a:t>Top-1, hybrid</a:t>
            </a:r>
            <a:endParaRPr lang="en-US" sz="1500" dirty="0"/>
          </a:p>
        </p:txBody>
      </p:sp>
      <p:sp>
        <p:nvSpPr>
          <p:cNvPr id="11" name="Text 7"/>
          <p:cNvSpPr txBox="1"/>
          <p:nvPr/>
        </p:nvSpPr>
        <p:spPr>
          <a:xfrm>
            <a:off x="9930384" y="2313432"/>
            <a:ext cx="1499616" cy="365760"/>
          </a:xfrm>
          <a:prstGeom prst="rect">
            <a:avLst/>
          </a:prstGeom>
          <a:noFill/>
          <a:ln/>
        </p:spPr>
        <p:txBody>
          <a:bodyPr wrap="square" lIns="0" tIns="0" rIns="0" bIns="0" rtlCol="0" anchor="t"/>
          <a:lstStyle/>
          <a:p>
            <a:pPr indent="0" marL="0">
              <a:buNone/>
            </a:pPr>
            <a:r>
              <a:rPr lang="en-US" sz="1100" dirty="0">
                <a:solidFill>
                  <a:schemeClr val="tx2"/>
                </a:solidFill>
              </a:rPr>
              <a:t>MRR 0.91; with LLM 82%</a:t>
            </a:r>
            <a:endParaRPr lang="en-US" sz="1100" dirty="0"/>
          </a:p>
        </p:txBody>
      </p:sp>
      <p:sp>
        <p:nvSpPr>
          <p:cNvPr id="12" name="card"/>
          <p:cNvSpPr/>
          <p:nvPr/>
        </p:nvSpPr>
        <p:spPr>
          <a:xfrm>
            <a:off x="8321040" y="2971800"/>
            <a:ext cx="329184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3" name="Text 9"/>
          <p:cNvSpPr txBox="1"/>
          <p:nvPr/>
        </p:nvSpPr>
        <p:spPr>
          <a:xfrm>
            <a:off x="8549640" y="3136392"/>
            <a:ext cx="1152144" cy="868680"/>
          </a:xfrm>
          <a:prstGeom prst="rect">
            <a:avLst/>
          </a:prstGeom>
          <a:noFill/>
          <a:ln/>
        </p:spPr>
        <p:txBody>
          <a:bodyPr wrap="square" lIns="0" tIns="0" rIns="0" bIns="0" rtlCol="0" anchor="ctr"/>
          <a:lstStyle/>
          <a:p>
            <a:pPr indent="0" marL="0">
              <a:buNone/>
            </a:pPr>
            <a:r>
              <a:rPr lang="en-US" sz="4000" b="1" dirty="0">
                <a:solidFill>
                  <a:srgbClr val="E07A2E"/>
                </a:solidFill>
                <a:latin typeface="Cambria" pitchFamily="34" charset="0"/>
                <a:ea typeface="Cambria" pitchFamily="34" charset="-122"/>
                <a:cs typeface="Cambria" pitchFamily="34" charset="-120"/>
              </a:rPr>
              <a:t>36%</a:t>
            </a:r>
            <a:endParaRPr lang="en-US" sz="4000" dirty="0"/>
          </a:p>
        </p:txBody>
      </p:sp>
      <p:sp>
        <p:nvSpPr>
          <p:cNvPr id="14" name="Text 10"/>
          <p:cNvSpPr txBox="1"/>
          <p:nvPr/>
        </p:nvSpPr>
        <p:spPr>
          <a:xfrm>
            <a:off x="9930384" y="3154680"/>
            <a:ext cx="1499616" cy="502920"/>
          </a:xfrm>
          <a:prstGeom prst="rect">
            <a:avLst/>
          </a:prstGeom>
          <a:noFill/>
          <a:ln/>
        </p:spPr>
        <p:txBody>
          <a:bodyPr wrap="square" lIns="0" tIns="0" rIns="0" bIns="0" rtlCol="0" anchor="t"/>
          <a:lstStyle/>
          <a:p>
            <a:pPr indent="0" marL="0">
              <a:buNone/>
            </a:pPr>
            <a:r>
              <a:rPr lang="en-US" sz="1500" dirty="0">
                <a:solidFill>
                  <a:schemeClr val="tx1"/>
                </a:solidFill>
              </a:rPr>
              <a:t>Top-1, blame deploy</a:t>
            </a:r>
            <a:endParaRPr lang="en-US" sz="1500" dirty="0"/>
          </a:p>
        </p:txBody>
      </p:sp>
      <p:sp>
        <p:nvSpPr>
          <p:cNvPr id="15" name="Text 11"/>
          <p:cNvSpPr txBox="1"/>
          <p:nvPr/>
        </p:nvSpPr>
        <p:spPr>
          <a:xfrm>
            <a:off x="9930384" y="3685032"/>
            <a:ext cx="1499616" cy="365760"/>
          </a:xfrm>
          <a:prstGeom prst="rect">
            <a:avLst/>
          </a:prstGeom>
          <a:noFill/>
          <a:ln/>
        </p:spPr>
        <p:txBody>
          <a:bodyPr wrap="square" lIns="0" tIns="0" rIns="0" bIns="0" rtlCol="0" anchor="t"/>
          <a:lstStyle/>
          <a:p>
            <a:pPr indent="0" marL="0">
              <a:buNone/>
            </a:pPr>
            <a:r>
              <a:rPr lang="en-US" sz="1100" dirty="0">
                <a:solidFill>
                  <a:schemeClr val="tx2"/>
                </a:solidFill>
              </a:rPr>
              <a:t>best naive baseline; v0 3%</a:t>
            </a:r>
            <a:endParaRPr lang="en-US" sz="1100" dirty="0"/>
          </a:p>
        </p:txBody>
      </p:sp>
      <p:sp>
        <p:nvSpPr>
          <p:cNvPr id="16" name="card"/>
          <p:cNvSpPr/>
          <p:nvPr/>
        </p:nvSpPr>
        <p:spPr>
          <a:xfrm>
            <a:off x="8321040" y="4343400"/>
            <a:ext cx="3291840" cy="1463040"/>
          </a:xfrm>
          <a:prstGeom prst="rect">
            <a:avLst/>
          </a:prstGeom>
          <a:solidFill>
            <a:schemeClr val="accent4"/>
          </a:solidFill>
          <a:ln w="9525">
            <a:solidFill>
              <a:schemeClr val="accent4"/>
            </a:solidFill>
            <a:prstDash val="solid"/>
          </a:ln>
        </p:spPr>
      </p:sp>
      <p:sp>
        <p:nvSpPr>
          <p:cNvPr id="17" name="Text 13"/>
          <p:cNvSpPr txBox="1"/>
          <p:nvPr/>
        </p:nvSpPr>
        <p:spPr>
          <a:xfrm>
            <a:off x="8503920" y="4407408"/>
            <a:ext cx="2971800" cy="1325880"/>
          </a:xfrm>
          <a:prstGeom prst="rect">
            <a:avLst/>
          </a:prstGeom>
          <a:noFill/>
          <a:ln/>
        </p:spPr>
        <p:txBody>
          <a:bodyPr wrap="square" lIns="0" tIns="0" rIns="0" bIns="0" rtlCol="0" anchor="ctr"/>
          <a:lstStyle/>
          <a:p>
            <a:pPr indent="0" marL="0">
              <a:buNone/>
            </a:pPr>
            <a:r>
              <a:rPr lang="en-US" sz="1300" b="1" dirty="0">
                <a:solidFill>
                  <a:schemeClr val="tx1"/>
                </a:solidFill>
              </a:rPr>
              <a:t>Plain RAG + LLM 46%, BM25 18%, dense 15%. LLM re-rank: 82% Top-1 but best file Top-1 (91%).</a:t>
            </a:r>
            <a:endParaRPr lang="en-US" sz="1300" dirty="0"/>
          </a:p>
        </p:txBody>
      </p:sp>
      <p:sp>
        <p:nvSpPr>
          <p:cNvPr id="18" name="Text 14"/>
          <p:cNvSpPr txBox="1"/>
          <p:nvPr/>
        </p:nvSpPr>
        <p:spPr>
          <a:xfrm>
            <a:off x="548640" y="5897880"/>
            <a:ext cx="7589520" cy="274320"/>
          </a:xfrm>
          <a:prstGeom prst="rect">
            <a:avLst/>
          </a:prstGeom>
          <a:noFill/>
          <a:ln/>
        </p:spPr>
        <p:txBody>
          <a:bodyPr wrap="square" lIns="0" tIns="0" rIns="0" bIns="0" rtlCol="0" anchor="t"/>
          <a:lstStyle/>
          <a:p>
            <a:pPr indent="0" marL="0">
              <a:buNone/>
            </a:pPr>
            <a:r>
              <a:rPr lang="en-US" sz="1100" dirty="0">
                <a:solidFill>
                  <a:schemeClr val="tx2"/>
                </a:solidFill>
              </a:rPr>
              <a:t>n = 33 fault runs. Top-1/Top-3 at function level (chunk overlaps the faulty lines).</a:t>
            </a:r>
            <a:endParaRPr lang="en-US" sz="11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 WHAT MATTERS</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Which evidence carries the ranking</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tx1"/>
                </a:solidFill>
              </a:rPr>
              <a:t>P2 | Aryan</a:t>
            </a:r>
            <a:endParaRPr lang="en-US" sz="1200" dirty="0"/>
          </a:p>
        </p:txBody>
      </p:sp>
      <p:graphicFrame>
        <p:nvGraphicFramePr>
          <p:cNvPr id="7" name="Chart 0" descr=""/>
          <p:cNvGraphicFramePr/>
          <p:nvPr/>
        </p:nvGraphicFramePr>
        <p:xfrm>
          <a:off x="548640" y="1508760"/>
          <a:ext cx="60350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12280" y="1691640"/>
          <a:ext cx="4800600" cy="914400"/>
        </p:xfrm>
        <a:graphic>
          <a:graphicData uri="http://schemas.openxmlformats.org/drawingml/2006/table">
            <a:tbl>
              <a:tblPr/>
              <a:tblGrid>
                <a:gridCol w="1417320"/>
                <a:gridCol w="1188720"/>
                <a:gridCol w="1143000"/>
                <a:gridCol w="10515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LLM</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Hybrid+LLM top-1</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RAG+LLM top-1</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Tokens / call</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gpt-5.4-mini</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82%</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2454</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gpt-oss-120b</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2151</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bl>
          </a:graphicData>
        </a:graphic>
      </p:graphicFrame>
      <p:sp>
        <p:nvSpPr>
          <p:cNvPr id="9" name="card"/>
          <p:cNvSpPr/>
          <p:nvPr/>
        </p:nvSpPr>
        <p:spPr>
          <a:xfrm>
            <a:off x="6812280" y="3794760"/>
            <a:ext cx="4800600" cy="1920240"/>
          </a:xfrm>
          <a:prstGeom prst="rect">
            <a:avLst/>
          </a:prstGeom>
          <a:solidFill>
            <a:schemeClr val="accent4"/>
          </a:solidFill>
          <a:ln w="9525">
            <a:solidFill>
              <a:schemeClr val="accent4"/>
            </a:solidFill>
            <a:prstDash val="solid"/>
          </a:ln>
        </p:spPr>
      </p:sp>
      <p:sp>
        <p:nvSpPr>
          <p:cNvPr id="10" name="Text 5"/>
          <p:cNvSpPr txBox="1"/>
          <p:nvPr/>
        </p:nvSpPr>
        <p:spPr>
          <a:xfrm>
            <a:off x="6995160" y="3886200"/>
            <a:ext cx="4434840" cy="1737360"/>
          </a:xfrm>
          <a:prstGeom prst="rect">
            <a:avLst/>
          </a:prstGeom>
          <a:noFill/>
          <a:ln/>
        </p:spPr>
        <p:txBody>
          <a:bodyPr wrap="square" lIns="0" tIns="0" rIns="0" bIns="0" rtlCol="0" anchor="ctr"/>
          <a:lstStyle/>
          <a:p>
            <a:pPr indent="0" marL="0">
              <a:buNone/>
            </a:pPr>
            <a:r>
              <a:rPr lang="en-US" sz="1300" b="1" dirty="0">
                <a:solidFill>
                  <a:schemeClr val="tx1"/>
                </a:solidFill>
              </a:rPr>
              <a:t>Deploy diff (-24 pts) and call graph (-18 pts) carry the ranking. Removing BM25 or dense alone raises Top-1 to 91%: text similarity adds noise once structure is known.</a:t>
            </a:r>
            <a:endParaRPr lang="en-US" sz="13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METHODOLOGY: STEP 6</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diagnosis is a hypothesis until tested</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3"/>
          </a:solidFill>
          <a:ln w="12700">
            <a:solidFill>
              <a:schemeClr val="accent3"/>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P3 | Syna</a:t>
            </a:r>
            <a:endParaRPr lang="en-US" sz="1200" dirty="0"/>
          </a:p>
        </p:txBody>
      </p:sp>
      <p:sp>
        <p:nvSpPr>
          <p:cNvPr id="7" name="card"/>
          <p:cNvSpPr/>
          <p:nvPr/>
        </p:nvSpPr>
        <p:spPr>
          <a:xfrm>
            <a:off x="548640" y="1645920"/>
            <a:ext cx="2560320" cy="15544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badge"/>
          <p:cNvSpPr/>
          <p:nvPr/>
        </p:nvSpPr>
        <p:spPr>
          <a:xfrm>
            <a:off x="777240" y="1810512"/>
            <a:ext cx="457200" cy="457200"/>
          </a:xfrm>
          <a:prstGeom prst="ellipse">
            <a:avLst/>
          </a:prstGeom>
          <a:solidFill>
            <a:schemeClr val="accent3"/>
          </a:solidFill>
          <a:ln w="12700">
            <a:solidFill>
              <a:schemeClr val="accent3"/>
            </a:solidFill>
            <a:prstDash val="solid"/>
          </a:ln>
        </p:spPr>
      </p:sp>
      <p:sp>
        <p:nvSpPr>
          <p:cNvPr id="9" name="Text 6"/>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371600" y="1847088"/>
            <a:ext cx="1645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Generate</a:t>
            </a:r>
            <a:endParaRPr lang="en-US" sz="1800" dirty="0"/>
          </a:p>
        </p:txBody>
      </p:sp>
      <p:sp>
        <p:nvSpPr>
          <p:cNvPr id="11" name="Text 8"/>
          <p:cNvSpPr txBox="1"/>
          <p:nvPr/>
        </p:nvSpPr>
        <p:spPr>
          <a:xfrm>
            <a:off x="777240" y="2377440"/>
            <a:ext cx="2148840" cy="777240"/>
          </a:xfrm>
          <a:prstGeom prst="rect">
            <a:avLst/>
          </a:prstGeom>
          <a:noFill/>
          <a:ln/>
        </p:spPr>
        <p:txBody>
          <a:bodyPr wrap="square" lIns="0" tIns="0" rIns="0" bIns="0" rtlCol="0" anchor="t"/>
          <a:lstStyle/>
          <a:p>
            <a:pPr indent="0" marL="0">
              <a:buNone/>
            </a:pPr>
            <a:r>
              <a:rPr lang="en-US" sz="1300" dirty="0">
                <a:solidFill>
                  <a:schemeClr val="tx2"/>
                </a:solidFill>
              </a:rPr>
              <a:t>template or LLM writes one pytest file</a:t>
            </a:r>
            <a:endParaRPr lang="en-US" sz="1300" dirty="0"/>
          </a:p>
        </p:txBody>
      </p:sp>
      <p:sp>
        <p:nvSpPr>
          <p:cNvPr id="12" name="arrow"/>
          <p:cNvSpPr/>
          <p:nvPr/>
        </p:nvSpPr>
        <p:spPr>
          <a:xfrm>
            <a:off x="3108960" y="2423160"/>
            <a:ext cx="274320" cy="0"/>
          </a:xfrm>
          <a:prstGeom prst="line">
            <a:avLst/>
          </a:prstGeom>
          <a:noFill/>
          <a:ln w="15875">
            <a:solidFill>
              <a:srgbClr val="5A6072"/>
            </a:solidFill>
            <a:prstDash val="solid"/>
            <a:tailEnd type="triangle"/>
          </a:ln>
        </p:spPr>
      </p:sp>
      <p:sp>
        <p:nvSpPr>
          <p:cNvPr id="13" name="card"/>
          <p:cNvSpPr/>
          <p:nvPr/>
        </p:nvSpPr>
        <p:spPr>
          <a:xfrm>
            <a:off x="3383280" y="1645920"/>
            <a:ext cx="2560320" cy="15544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badge"/>
          <p:cNvSpPr/>
          <p:nvPr/>
        </p:nvSpPr>
        <p:spPr>
          <a:xfrm>
            <a:off x="3611880" y="1810512"/>
            <a:ext cx="457200" cy="457200"/>
          </a:xfrm>
          <a:prstGeom prst="ellipse">
            <a:avLst/>
          </a:prstGeom>
          <a:solidFill>
            <a:schemeClr val="accent3"/>
          </a:solidFill>
          <a:ln w="12700">
            <a:solidFill>
              <a:schemeClr val="accent3"/>
            </a:solidFill>
            <a:prstDash val="solid"/>
          </a:ln>
        </p:spPr>
      </p:sp>
      <p:sp>
        <p:nvSpPr>
          <p:cNvPr id="15" name="Text 12"/>
          <p:cNvSpPr txBox="1"/>
          <p:nvPr/>
        </p:nvSpPr>
        <p:spPr>
          <a:xfrm>
            <a:off x="361188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4206240" y="1847088"/>
            <a:ext cx="1645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Guard</a:t>
            </a:r>
            <a:endParaRPr lang="en-US" sz="1800" dirty="0"/>
          </a:p>
        </p:txBody>
      </p:sp>
      <p:sp>
        <p:nvSpPr>
          <p:cNvPr id="17" name="Text 14"/>
          <p:cNvSpPr txBox="1"/>
          <p:nvPr/>
        </p:nvSpPr>
        <p:spPr>
          <a:xfrm>
            <a:off x="3611880" y="2377440"/>
            <a:ext cx="2148840" cy="777240"/>
          </a:xfrm>
          <a:prstGeom prst="rect">
            <a:avLst/>
          </a:prstGeom>
          <a:noFill/>
          <a:ln/>
        </p:spPr>
        <p:txBody>
          <a:bodyPr wrap="square" lIns="0" tIns="0" rIns="0" bIns="0" rtlCol="0" anchor="t"/>
          <a:lstStyle/>
          <a:p>
            <a:pPr indent="0" marL="0">
              <a:buNone/>
            </a:pPr>
            <a:r>
              <a:rPr lang="en-US" sz="1300" dirty="0">
                <a:solidFill>
                  <a:schemeClr val="tx2"/>
                </a:solidFill>
              </a:rPr>
              <a:t>AST check: no os, files, network, eval, skip; &gt;= 1 assert</a:t>
            </a:r>
            <a:endParaRPr lang="en-US" sz="1300" dirty="0"/>
          </a:p>
        </p:txBody>
      </p:sp>
      <p:sp>
        <p:nvSpPr>
          <p:cNvPr id="18" name="arrow"/>
          <p:cNvSpPr/>
          <p:nvPr/>
        </p:nvSpPr>
        <p:spPr>
          <a:xfrm>
            <a:off x="5943600" y="2423160"/>
            <a:ext cx="274320" cy="0"/>
          </a:xfrm>
          <a:prstGeom prst="line">
            <a:avLst/>
          </a:prstGeom>
          <a:noFill/>
          <a:ln w="15875">
            <a:solidFill>
              <a:srgbClr val="5A6072"/>
            </a:solidFill>
            <a:prstDash val="solid"/>
            <a:tailEnd type="triangle"/>
          </a:ln>
        </p:spPr>
      </p:sp>
      <p:sp>
        <p:nvSpPr>
          <p:cNvPr id="19" name="card"/>
          <p:cNvSpPr/>
          <p:nvPr/>
        </p:nvSpPr>
        <p:spPr>
          <a:xfrm>
            <a:off x="6217920" y="1645920"/>
            <a:ext cx="2560320" cy="15544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0" name="badge"/>
          <p:cNvSpPr/>
          <p:nvPr/>
        </p:nvSpPr>
        <p:spPr>
          <a:xfrm>
            <a:off x="6446520" y="1810512"/>
            <a:ext cx="457200" cy="457200"/>
          </a:xfrm>
          <a:prstGeom prst="ellipse">
            <a:avLst/>
          </a:prstGeom>
          <a:solidFill>
            <a:schemeClr val="accent3"/>
          </a:solidFill>
          <a:ln w="12700">
            <a:solidFill>
              <a:schemeClr val="accent3"/>
            </a:solidFill>
            <a:prstDash val="solid"/>
          </a:ln>
        </p:spPr>
      </p:sp>
      <p:sp>
        <p:nvSpPr>
          <p:cNvPr id="21" name="Text 18"/>
          <p:cNvSpPr txBox="1"/>
          <p:nvPr/>
        </p:nvSpPr>
        <p:spPr>
          <a:xfrm>
            <a:off x="644652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7040880" y="1847088"/>
            <a:ext cx="1645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Run on faulty</a:t>
            </a:r>
            <a:endParaRPr lang="en-US" sz="1800" dirty="0"/>
          </a:p>
        </p:txBody>
      </p:sp>
      <p:sp>
        <p:nvSpPr>
          <p:cNvPr id="23" name="Text 20"/>
          <p:cNvSpPr txBox="1"/>
          <p:nvPr/>
        </p:nvSpPr>
        <p:spPr>
          <a:xfrm>
            <a:off x="6446520" y="2377440"/>
            <a:ext cx="2148840" cy="777240"/>
          </a:xfrm>
          <a:prstGeom prst="rect">
            <a:avLst/>
          </a:prstGeom>
          <a:noFill/>
          <a:ln/>
        </p:spPr>
        <p:txBody>
          <a:bodyPr wrap="square" lIns="0" tIns="0" rIns="0" bIns="0" rtlCol="0" anchor="t"/>
          <a:lstStyle/>
          <a:p>
            <a:pPr indent="0" marL="0">
              <a:buNone/>
            </a:pPr>
            <a:r>
              <a:rPr lang="en-US" sz="1300" dirty="0">
                <a:solidFill>
                  <a:schemeClr val="tx2"/>
                </a:solidFill>
              </a:rPr>
              <a:t>fresh copy, keys stripped, 90 s timeout</a:t>
            </a:r>
            <a:endParaRPr lang="en-US" sz="1300" dirty="0"/>
          </a:p>
        </p:txBody>
      </p:sp>
      <p:sp>
        <p:nvSpPr>
          <p:cNvPr id="24" name="arrow"/>
          <p:cNvSpPr/>
          <p:nvPr/>
        </p:nvSpPr>
        <p:spPr>
          <a:xfrm>
            <a:off x="8778240" y="2423160"/>
            <a:ext cx="274320" cy="0"/>
          </a:xfrm>
          <a:prstGeom prst="line">
            <a:avLst/>
          </a:prstGeom>
          <a:noFill/>
          <a:ln w="15875">
            <a:solidFill>
              <a:srgbClr val="5A6072"/>
            </a:solidFill>
            <a:prstDash val="solid"/>
            <a:tailEnd type="triangle"/>
          </a:ln>
        </p:spPr>
      </p:sp>
      <p:sp>
        <p:nvSpPr>
          <p:cNvPr id="25" name="card"/>
          <p:cNvSpPr/>
          <p:nvPr/>
        </p:nvSpPr>
        <p:spPr>
          <a:xfrm>
            <a:off x="9052560" y="1645920"/>
            <a:ext cx="2560320" cy="15544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6" name="badge"/>
          <p:cNvSpPr/>
          <p:nvPr/>
        </p:nvSpPr>
        <p:spPr>
          <a:xfrm>
            <a:off x="9281160" y="1810512"/>
            <a:ext cx="457200" cy="457200"/>
          </a:xfrm>
          <a:prstGeom prst="ellipse">
            <a:avLst/>
          </a:prstGeom>
          <a:solidFill>
            <a:schemeClr val="accent3"/>
          </a:solidFill>
          <a:ln w="12700">
            <a:solidFill>
              <a:schemeClr val="accent3"/>
            </a:solidFill>
            <a:prstDash val="solid"/>
          </a:ln>
        </p:spPr>
      </p:sp>
      <p:sp>
        <p:nvSpPr>
          <p:cNvPr id="27" name="Text 24"/>
          <p:cNvSpPr txBox="1"/>
          <p:nvPr/>
        </p:nvSpPr>
        <p:spPr>
          <a:xfrm>
            <a:off x="928116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8" name="Text 25"/>
          <p:cNvSpPr txBox="1"/>
          <p:nvPr/>
        </p:nvSpPr>
        <p:spPr>
          <a:xfrm>
            <a:off x="9875520" y="1847088"/>
            <a:ext cx="16459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Run on good</a:t>
            </a:r>
            <a:endParaRPr lang="en-US" sz="1800" dirty="0"/>
          </a:p>
        </p:txBody>
      </p:sp>
      <p:sp>
        <p:nvSpPr>
          <p:cNvPr id="29" name="Text 26"/>
          <p:cNvSpPr txBox="1"/>
          <p:nvPr/>
        </p:nvSpPr>
        <p:spPr>
          <a:xfrm>
            <a:off x="9281160" y="2377440"/>
            <a:ext cx="2148840" cy="777240"/>
          </a:xfrm>
          <a:prstGeom prst="rect">
            <a:avLst/>
          </a:prstGeom>
          <a:noFill/>
          <a:ln/>
        </p:spPr>
        <p:txBody>
          <a:bodyPr wrap="square" lIns="0" tIns="0" rIns="0" bIns="0" rtlCol="0" anchor="t"/>
          <a:lstStyle/>
          <a:p>
            <a:pPr indent="0" marL="0">
              <a:buNone/>
            </a:pPr>
            <a:r>
              <a:rPr lang="en-US" sz="1300" dirty="0">
                <a:solidFill>
                  <a:schemeClr val="tx2"/>
                </a:solidFill>
              </a:rPr>
              <a:t>same test, fault commit reverted</a:t>
            </a:r>
            <a:endParaRPr lang="en-US" sz="1300" dirty="0"/>
          </a:p>
        </p:txBody>
      </p:sp>
      <p:sp>
        <p:nvSpPr>
          <p:cNvPr id="30" name="card"/>
          <p:cNvSpPr/>
          <p:nvPr/>
        </p:nvSpPr>
        <p:spPr>
          <a:xfrm>
            <a:off x="548640" y="3474720"/>
            <a:ext cx="5440680" cy="22860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31" name="Text 28"/>
          <p:cNvSpPr txBox="1"/>
          <p:nvPr/>
        </p:nvSpPr>
        <p:spPr>
          <a:xfrm>
            <a:off x="777240" y="3584448"/>
            <a:ext cx="5029200" cy="411480"/>
          </a:xfrm>
          <a:prstGeom prst="rect">
            <a:avLst/>
          </a:prstGeom>
          <a:noFill/>
          <a:ln/>
        </p:spPr>
        <p:txBody>
          <a:bodyPr wrap="square" lIns="0" tIns="0" rIns="0" bIns="0" rtlCol="0" anchor="t"/>
          <a:lstStyle/>
          <a:p>
            <a:pPr indent="0" marL="0">
              <a:buNone/>
            </a:pPr>
            <a:r>
              <a:rPr lang="en-US" sz="1800" b="1" dirty="0">
                <a:solidFill>
                  <a:srgbClr val="2E6B44"/>
                </a:solidFill>
                <a:latin typeface="Cambria" pitchFamily="34" charset="0"/>
                <a:ea typeface="Cambria" pitchFamily="34" charset="-122"/>
                <a:cs typeface="Cambria" pitchFamily="34" charset="-120"/>
              </a:rPr>
              <a:t>Template generator (deterministic)</a:t>
            </a:r>
            <a:endParaRPr lang="en-US" sz="1800" dirty="0"/>
          </a:p>
        </p:txBody>
      </p:sp>
      <p:sp>
        <p:nvSpPr>
          <p:cNvPr id="32" name="Text 29"/>
          <p:cNvSpPr txBox="1"/>
          <p:nvPr/>
        </p:nvSpPr>
        <p:spPr>
          <a:xfrm>
            <a:off x="777240" y="4069080"/>
            <a:ext cx="5029200" cy="16459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errors: replay the failing requests, assert no 5xx</a:t>
            </a:r>
            <a:endParaRPr lang="en-US" sz="1300" dirty="0"/>
          </a:p>
          <a:p>
            <a:pPr marL="203200" indent="-203200">
              <a:spcAft>
                <a:spcPts val="600"/>
              </a:spcAft>
              <a:buSzPct val="100000"/>
              <a:buChar char="•"/>
            </a:pPr>
            <a:r>
              <a:rPr lang="en-US" sz="1300" dirty="0">
                <a:solidFill>
                  <a:schemeClr val="tx1"/>
                </a:solidFill>
              </a:rPr>
              <a:t>latency / CPU: replay the slowest request 20x; median &lt;= max(3x, +10 ms), p95 &lt;= max(2x, +20 ms) of baseline</a:t>
            </a:r>
            <a:endParaRPr lang="en-US" sz="1300" dirty="0"/>
          </a:p>
          <a:p>
            <a:pPr marL="203200" indent="-203200">
              <a:spcAft>
                <a:spcPts val="600"/>
              </a:spcAft>
              <a:buSzPct val="100000"/>
              <a:buChar char="•"/>
            </a:pPr>
            <a:r>
              <a:rPr lang="en-US" sz="1300" dirty="0">
                <a:solidFill>
                  <a:schemeClr val="tx1"/>
                </a:solidFill>
              </a:rPr>
              <a:t>memory: 200 rounds of normal requests, tracemalloc growth &lt; 8 MiB</a:t>
            </a:r>
            <a:endParaRPr lang="en-US" sz="1300" dirty="0"/>
          </a:p>
        </p:txBody>
      </p:sp>
      <p:sp>
        <p:nvSpPr>
          <p:cNvPr id="33" name="card"/>
          <p:cNvSpPr/>
          <p:nvPr/>
        </p:nvSpPr>
        <p:spPr>
          <a:xfrm>
            <a:off x="6172200" y="3474720"/>
            <a:ext cx="5440680" cy="22860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34" name="Text 31"/>
          <p:cNvSpPr txBox="1"/>
          <p:nvPr/>
        </p:nvSpPr>
        <p:spPr>
          <a:xfrm>
            <a:off x="6400800" y="3584448"/>
            <a:ext cx="5029200" cy="411480"/>
          </a:xfrm>
          <a:prstGeom prst="rect">
            <a:avLst/>
          </a:prstGeom>
          <a:noFill/>
          <a:ln/>
        </p:spPr>
        <p:txBody>
          <a:bodyPr wrap="square" lIns="0" tIns="0" rIns="0" bIns="0" rtlCol="0" anchor="t"/>
          <a:lstStyle/>
          <a:p>
            <a:pPr indent="0" marL="0">
              <a:buNone/>
            </a:pPr>
            <a:r>
              <a:rPr lang="en-US" sz="1800" b="1" dirty="0">
                <a:solidFill>
                  <a:srgbClr val="2E6B44"/>
                </a:solidFill>
                <a:latin typeface="Cambria" pitchFamily="34" charset="0"/>
                <a:ea typeface="Cambria" pitchFamily="34" charset="-122"/>
                <a:cs typeface="Cambria" pitchFamily="34" charset="-120"/>
              </a:rPr>
              <a:t>LLM generator</a:t>
            </a:r>
            <a:endParaRPr lang="en-US" sz="1800" dirty="0"/>
          </a:p>
        </p:txBody>
      </p:sp>
      <p:sp>
        <p:nvSpPr>
          <p:cNvPr id="35" name="Text 32"/>
          <p:cNvSpPr txBox="1"/>
          <p:nvPr/>
        </p:nvSpPr>
        <p:spPr>
          <a:xfrm>
            <a:off x="6400800" y="4069080"/>
            <a:ext cx="5029200" cy="16459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Gets the packet, top-3 suspect code, observed requests and baselines</a:t>
            </a:r>
            <a:endParaRPr lang="en-US" sz="1300" dirty="0"/>
          </a:p>
          <a:p>
            <a:pPr marL="203200" indent="-203200">
              <a:spcAft>
                <a:spcPts val="600"/>
              </a:spcAft>
              <a:buSzPct val="100000"/>
              <a:buChar char="•"/>
            </a:pPr>
            <a:r>
              <a:rPr lang="en-US" sz="1300" dirty="0">
                <a:solidFill>
                  <a:schemeClr val="tx1"/>
                </a:solidFill>
              </a:rPr>
              <a:t>Must assert healthy behaviour on the diagnosed symptom only</a:t>
            </a:r>
            <a:endParaRPr lang="en-US" sz="1300" dirty="0"/>
          </a:p>
          <a:p>
            <a:pPr marL="203200" indent="-203200">
              <a:spcAft>
                <a:spcPts val="600"/>
              </a:spcAft>
              <a:buSzPct val="100000"/>
              <a:buChar char="•"/>
            </a:pPr>
            <a:r>
              <a:rPr lang="en-US" sz="1300" dirty="0">
                <a:solidFill>
                  <a:schemeClr val="tx1"/>
                </a:solidFill>
              </a:rPr>
              <a:t>One repair round if the guard rejects it; then the guard has the final word</a:t>
            </a:r>
            <a:endParaRPr lang="en-US" sz="1300" dirty="0"/>
          </a:p>
          <a:p>
            <a:pPr marL="203200" indent="-203200">
              <a:spcAft>
                <a:spcPts val="600"/>
              </a:spcAft>
              <a:buSzPct val="100000"/>
              <a:buChar char="•"/>
            </a:pPr>
            <a:r>
              <a:rPr lang="en-US" sz="1300" dirty="0">
                <a:solidFill>
                  <a:schemeClr val="tx1"/>
                </a:solidFill>
              </a:rPr>
              <a:t>Can test what a template cannot, e.g. lock contention under concurrency</a:t>
            </a:r>
            <a:endParaRPr lang="en-US" sz="13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 CONFIRMING TESTS</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How often a generated test proves the diagnosis</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accent3"/>
          </a:solidFill>
          <a:ln w="12700">
            <a:solidFill>
              <a:schemeClr val="accent3"/>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P3 | Syna</a:t>
            </a:r>
            <a:endParaRPr lang="en-US" sz="1200" dirty="0"/>
          </a:p>
        </p:txBody>
      </p:sp>
      <p:graphicFrame>
        <p:nvGraphicFramePr>
          <p:cNvPr id="7" name="Chart 0" descr=""/>
          <p:cNvGraphicFramePr/>
          <p:nvPr/>
        </p:nvGraphicFramePr>
        <p:xfrm>
          <a:off x="548640" y="1508760"/>
          <a:ext cx="694944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26680" y="1554480"/>
          <a:ext cx="3886200" cy="914400"/>
        </p:xfrm>
        <a:graphic>
          <a:graphicData uri="http://schemas.openxmlformats.org/drawingml/2006/table">
            <a:tbl>
              <a:tblPr/>
              <a:tblGrid>
                <a:gridCol w="777240"/>
                <a:gridCol w="1036320"/>
                <a:gridCol w="1036320"/>
                <a:gridCol w="10363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Fault</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5.4-mini</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oss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Tmpl</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F02</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F04</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F05</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F06</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F07</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F08</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F09</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F10</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F11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F12</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200" dirty="0">
                          <a:solidFill>
                            <a:srgbClr val="1B1E2B"/>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63500" marR="63500" marT="25400" marB="254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bl>
          </a:graphicData>
        </a:graphic>
      </p:graphicFrame>
      <p:sp>
        <p:nvSpPr>
          <p:cNvPr id="9" name="Text 4"/>
          <p:cNvSpPr txBox="1"/>
          <p:nvPr/>
        </p:nvSpPr>
        <p:spPr>
          <a:xfrm>
            <a:off x="7726680" y="5257800"/>
            <a:ext cx="3886200" cy="822960"/>
          </a:xfrm>
          <a:prstGeom prst="rect">
            <a:avLst/>
          </a:prstGeom>
          <a:noFill/>
          <a:ln/>
        </p:spPr>
        <p:txBody>
          <a:bodyPr wrap="square" lIns="0" tIns="0" rIns="0" bIns="0" rtlCol="0" anchor="t"/>
          <a:lstStyle/>
          <a:p>
            <a:pPr indent="0" marL="0">
              <a:buNone/>
            </a:pPr>
            <a:r>
              <a:rPr lang="en-US" sz="1100" dirty="0">
                <a:solidFill>
                  <a:schemeClr val="tx2"/>
                </a:solidFill>
              </a:rPr>
              <a:t>Cells: confirming / runs with a test. F09 was never detected, so no test. gpt-oss-120b tests ran on seed 0 only (Groq rate limits): its bars use n = 11.</a:t>
            </a:r>
            <a:endParaRPr lang="en-US" sz="11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 NOT SCALING BLINDLY</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Evidence-driven actions versus scale-on-alert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graphicFrame>
        <p:nvGraphicFramePr>
          <p:cNvPr id="7" name="Chart 0" descr=""/>
          <p:cNvGraphicFramePr/>
          <p:nvPr/>
        </p:nvGraphicFramePr>
        <p:xfrm>
          <a:off x="548640" y="1508760"/>
          <a:ext cx="6766560" cy="429768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589520" y="1600200"/>
            <a:ext cx="402336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9" name="Text 5"/>
          <p:cNvSpPr txBox="1"/>
          <p:nvPr/>
        </p:nvSpPr>
        <p:spPr>
          <a:xfrm>
            <a:off x="7818120" y="1764792"/>
            <a:ext cx="1152144"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82%</a:t>
            </a:r>
            <a:endParaRPr lang="en-US" sz="4000" dirty="0"/>
          </a:p>
        </p:txBody>
      </p:sp>
      <p:sp>
        <p:nvSpPr>
          <p:cNvPr id="10" name="Text 6"/>
          <p:cNvSpPr txBox="1"/>
          <p:nvPr/>
        </p:nvSpPr>
        <p:spPr>
          <a:xfrm>
            <a:off x="9198864" y="1783080"/>
            <a:ext cx="2231136" cy="502920"/>
          </a:xfrm>
          <a:prstGeom prst="rect">
            <a:avLst/>
          </a:prstGeom>
          <a:noFill/>
          <a:ln/>
        </p:spPr>
        <p:txBody>
          <a:bodyPr wrap="square" lIns="0" tIns="0" rIns="0" bIns="0" rtlCol="0" anchor="t"/>
          <a:lstStyle/>
          <a:p>
            <a:pPr indent="0" marL="0">
              <a:buNone/>
            </a:pPr>
            <a:r>
              <a:rPr lang="en-US" sz="1500" dirty="0">
                <a:solidFill>
                  <a:schemeClr val="tx1"/>
                </a:solidFill>
              </a:rPr>
              <a:t>right action, deterministic</a:t>
            </a:r>
            <a:endParaRPr lang="en-US" sz="1500" dirty="0"/>
          </a:p>
        </p:txBody>
      </p:sp>
      <p:sp>
        <p:nvSpPr>
          <p:cNvPr id="11" name="Text 7"/>
          <p:cNvSpPr txBox="1"/>
          <p:nvPr/>
        </p:nvSpPr>
        <p:spPr>
          <a:xfrm>
            <a:off x="9198864" y="2313432"/>
            <a:ext cx="2231136" cy="365760"/>
          </a:xfrm>
          <a:prstGeom prst="rect">
            <a:avLst/>
          </a:prstGeom>
          <a:noFill/>
          <a:ln/>
        </p:spPr>
        <p:txBody>
          <a:bodyPr wrap="square" lIns="0" tIns="0" rIns="0" bIns="0" rtlCol="0" anchor="t"/>
          <a:lstStyle/>
          <a:p>
            <a:pPr indent="0" marL="0">
              <a:buNone/>
            </a:pPr>
            <a:r>
              <a:rPr lang="en-US" sz="1100" dirty="0">
                <a:solidFill>
                  <a:schemeClr val="tx2"/>
                </a:solidFill>
              </a:rPr>
              <a:t>over all 45 runs</a:t>
            </a:r>
            <a:endParaRPr lang="en-US" sz="1100" dirty="0"/>
          </a:p>
        </p:txBody>
      </p:sp>
      <p:sp>
        <p:nvSpPr>
          <p:cNvPr id="12" name="card"/>
          <p:cNvSpPr/>
          <p:nvPr/>
        </p:nvSpPr>
        <p:spPr>
          <a:xfrm>
            <a:off x="7589520" y="2971800"/>
            <a:ext cx="4023360" cy="118872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3" name="Text 9"/>
          <p:cNvSpPr txBox="1"/>
          <p:nvPr/>
        </p:nvSpPr>
        <p:spPr>
          <a:xfrm>
            <a:off x="7818120" y="3136392"/>
            <a:ext cx="1152144" cy="868680"/>
          </a:xfrm>
          <a:prstGeom prst="rect">
            <a:avLst/>
          </a:prstGeom>
          <a:noFill/>
          <a:ln/>
        </p:spPr>
        <p:txBody>
          <a:bodyPr wrap="square" lIns="0" tIns="0" rIns="0" bIns="0" rtlCol="0" anchor="ctr"/>
          <a:lstStyle/>
          <a:p>
            <a:pPr indent="0" marL="0">
              <a:buNone/>
            </a:pPr>
            <a:r>
              <a:rPr lang="en-US" sz="4000" b="1" dirty="0">
                <a:solidFill>
                  <a:srgbClr val="E07A2E"/>
                </a:solidFill>
                <a:latin typeface="Cambria" pitchFamily="34" charset="0"/>
                <a:ea typeface="Cambria" pitchFamily="34" charset="-122"/>
                <a:cs typeface="Cambria" pitchFamily="34" charset="-120"/>
              </a:rPr>
              <a:t>13%</a:t>
            </a:r>
            <a:endParaRPr lang="en-US" sz="4000" dirty="0"/>
          </a:p>
        </p:txBody>
      </p:sp>
      <p:sp>
        <p:nvSpPr>
          <p:cNvPr id="14" name="Text 10"/>
          <p:cNvSpPr txBox="1"/>
          <p:nvPr/>
        </p:nvSpPr>
        <p:spPr>
          <a:xfrm>
            <a:off x="9198864" y="3154680"/>
            <a:ext cx="2231136" cy="502920"/>
          </a:xfrm>
          <a:prstGeom prst="rect">
            <a:avLst/>
          </a:prstGeom>
          <a:noFill/>
          <a:ln/>
        </p:spPr>
        <p:txBody>
          <a:bodyPr wrap="square" lIns="0" tIns="0" rIns="0" bIns="0" rtlCol="0" anchor="t"/>
          <a:lstStyle/>
          <a:p>
            <a:pPr indent="0" marL="0">
              <a:buNone/>
            </a:pPr>
            <a:r>
              <a:rPr lang="en-US" sz="1500" dirty="0">
                <a:solidFill>
                  <a:schemeClr val="tx1"/>
                </a:solidFill>
              </a:rPr>
              <a:t>scale on every alert</a:t>
            </a:r>
            <a:endParaRPr lang="en-US" sz="1500" dirty="0"/>
          </a:p>
        </p:txBody>
      </p:sp>
      <p:sp>
        <p:nvSpPr>
          <p:cNvPr id="15" name="Text 11"/>
          <p:cNvSpPr txBox="1"/>
          <p:nvPr/>
        </p:nvSpPr>
        <p:spPr>
          <a:xfrm>
            <a:off x="9198864" y="3685032"/>
            <a:ext cx="2231136" cy="365760"/>
          </a:xfrm>
          <a:prstGeom prst="rect">
            <a:avLst/>
          </a:prstGeom>
          <a:noFill/>
          <a:ln/>
        </p:spPr>
        <p:txBody>
          <a:bodyPr wrap="square" lIns="0" tIns="0" rIns="0" bIns="0" rtlCol="0" anchor="t"/>
          <a:lstStyle/>
          <a:p>
            <a:pPr indent="0" marL="0">
              <a:buNone/>
            </a:pPr>
            <a:r>
              <a:rPr lang="en-US" sz="1100" dirty="0">
                <a:solidFill>
                  <a:schemeClr val="tx2"/>
                </a:solidFill>
              </a:rPr>
              <a:t>right only when nothing broke or traffic surged</a:t>
            </a:r>
            <a:endParaRPr lang="en-US" sz="1100" dirty="0"/>
          </a:p>
        </p:txBody>
      </p:sp>
      <p:sp>
        <p:nvSpPr>
          <p:cNvPr id="16" name="card"/>
          <p:cNvSpPr/>
          <p:nvPr/>
        </p:nvSpPr>
        <p:spPr>
          <a:xfrm>
            <a:off x="7589520" y="4343400"/>
            <a:ext cx="4023360" cy="1463040"/>
          </a:xfrm>
          <a:prstGeom prst="rect">
            <a:avLst/>
          </a:prstGeom>
          <a:solidFill>
            <a:schemeClr val="accent4"/>
          </a:solidFill>
          <a:ln w="9525">
            <a:solidFill>
              <a:schemeClr val="accent4"/>
            </a:solidFill>
            <a:prstDash val="solid"/>
          </a:ln>
        </p:spPr>
      </p:sp>
      <p:sp>
        <p:nvSpPr>
          <p:cNvPr id="17" name="Text 13"/>
          <p:cNvSpPr txBox="1"/>
          <p:nvPr/>
        </p:nvSpPr>
        <p:spPr>
          <a:xfrm>
            <a:off x="7772400" y="4407408"/>
            <a:ext cx="3657600" cy="1325880"/>
          </a:xfrm>
          <a:prstGeom prst="rect">
            <a:avLst/>
          </a:prstGeom>
          <a:noFill/>
          <a:ln/>
        </p:spPr>
        <p:txBody>
          <a:bodyPr wrap="square" lIns="0" tIns="0" rIns="0" bIns="0" rtlCol="0" anchor="ctr"/>
          <a:lstStyle/>
          <a:p>
            <a:pPr indent="0" marL="0">
              <a:buNone/>
            </a:pPr>
            <a:r>
              <a:rPr lang="en-US" sz="1300" b="1" dirty="0">
                <a:solidFill>
                  <a:schemeClr val="tx1"/>
                </a:solidFill>
              </a:rPr>
              <a:t>0 code fixes proposed on 9 control runs. Wrong 8/45: F09 undetected (3), F07 left as investigate (2), 2 false incidents marked investigate, 1 H03 surge missed.</a:t>
            </a:r>
            <a:endParaRPr lang="en-US" sz="13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WORKED EXAMPLE</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F05: a config change made payments slow</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45920"/>
            <a:ext cx="2560320" cy="2926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badge"/>
          <p:cNvSpPr/>
          <p:nvPr/>
        </p:nvSpPr>
        <p:spPr>
          <a:xfrm>
            <a:off x="777240" y="1810512"/>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37160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Detect</a:t>
            </a:r>
            <a:endParaRPr lang="en-US" sz="1900" dirty="0"/>
          </a:p>
        </p:txBody>
      </p:sp>
      <p:sp>
        <p:nvSpPr>
          <p:cNvPr id="11" name="Text 8"/>
          <p:cNvSpPr txBox="1"/>
          <p:nvPr/>
        </p:nvSpPr>
        <p:spPr>
          <a:xfrm>
            <a:off x="777240" y="2423160"/>
            <a:ext cx="2148840" cy="2103120"/>
          </a:xfrm>
          <a:prstGeom prst="rect">
            <a:avLst/>
          </a:prstGeom>
          <a:noFill/>
          <a:ln/>
        </p:spPr>
        <p:txBody>
          <a:bodyPr wrap="square" lIns="0" tIns="0" rIns="0" bIns="0" rtlCol="0" anchor="t"/>
          <a:lstStyle/>
          <a:p>
            <a:pPr indent="0" marL="0">
              <a:buNone/>
            </a:pPr>
            <a:r>
              <a:rPr lang="en-US" sz="1400" dirty="0">
                <a:solidFill>
                  <a:schemeClr val="tx1"/>
                </a:solidFill>
              </a:rPr>
              <a:t>payments, POST /pay p95 55 ms -&gt; 401 ms, z = 125, 20 of 20 buckets. Thresholds: silent (under 500 ms).</a:t>
            </a:r>
            <a:endParaRPr lang="en-US" sz="1400" dirty="0"/>
          </a:p>
        </p:txBody>
      </p:sp>
      <p:sp>
        <p:nvSpPr>
          <p:cNvPr id="12" name="arrow"/>
          <p:cNvSpPr/>
          <p:nvPr/>
        </p:nvSpPr>
        <p:spPr>
          <a:xfrm>
            <a:off x="3108960" y="3108960"/>
            <a:ext cx="274320" cy="0"/>
          </a:xfrm>
          <a:prstGeom prst="line">
            <a:avLst/>
          </a:prstGeom>
          <a:noFill/>
          <a:ln w="15875">
            <a:solidFill>
              <a:srgbClr val="5A6072"/>
            </a:solidFill>
            <a:prstDash val="solid"/>
            <a:tailEnd type="triangle"/>
          </a:ln>
        </p:spPr>
      </p:sp>
      <p:sp>
        <p:nvSpPr>
          <p:cNvPr id="13" name="card"/>
          <p:cNvSpPr/>
          <p:nvPr/>
        </p:nvSpPr>
        <p:spPr>
          <a:xfrm>
            <a:off x="3383280" y="1645920"/>
            <a:ext cx="2560320" cy="2926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badge"/>
          <p:cNvSpPr/>
          <p:nvPr/>
        </p:nvSpPr>
        <p:spPr>
          <a:xfrm>
            <a:off x="3611880" y="1810512"/>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361188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420624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Trace</a:t>
            </a:r>
            <a:endParaRPr lang="en-US" sz="1900" dirty="0"/>
          </a:p>
        </p:txBody>
      </p:sp>
      <p:sp>
        <p:nvSpPr>
          <p:cNvPr id="17" name="Text 14"/>
          <p:cNvSpPr txBox="1"/>
          <p:nvPr/>
        </p:nvSpPr>
        <p:spPr>
          <a:xfrm>
            <a:off x="3611880" y="2423160"/>
            <a:ext cx="2148840" cy="2103120"/>
          </a:xfrm>
          <a:prstGeom prst="rect">
            <a:avLst/>
          </a:prstGeom>
          <a:noFill/>
          <a:ln/>
        </p:spPr>
        <p:txBody>
          <a:bodyPr wrap="square" lIns="0" tIns="0" rIns="0" bIns="0" rtlCol="0" anchor="t"/>
          <a:lstStyle/>
          <a:p>
            <a:pPr indent="0" marL="0">
              <a:buNone/>
            </a:pPr>
            <a:r>
              <a:rPr lang="en-US" sz="1400" dirty="0">
                <a:solidFill>
                  <a:schemeClr val="tx1"/>
                </a:solidFill>
              </a:rPr>
              <a:t>Top-1: payments/config.py module block. Changed by "Be more patient with the card gateway" and read on the /pay call path (depth 2). Confidence 1.0. LLM agrees (0.91): slow gateway path matches ~400 ms requests.</a:t>
            </a:r>
            <a:endParaRPr lang="en-US" sz="1400" dirty="0"/>
          </a:p>
        </p:txBody>
      </p:sp>
      <p:sp>
        <p:nvSpPr>
          <p:cNvPr id="18" name="arrow"/>
          <p:cNvSpPr/>
          <p:nvPr/>
        </p:nvSpPr>
        <p:spPr>
          <a:xfrm>
            <a:off x="5943600" y="3108960"/>
            <a:ext cx="274320" cy="0"/>
          </a:xfrm>
          <a:prstGeom prst="line">
            <a:avLst/>
          </a:prstGeom>
          <a:noFill/>
          <a:ln w="15875">
            <a:solidFill>
              <a:srgbClr val="5A6072"/>
            </a:solidFill>
            <a:prstDash val="solid"/>
            <a:tailEnd type="triangle"/>
          </a:ln>
        </p:spPr>
      </p:sp>
      <p:sp>
        <p:nvSpPr>
          <p:cNvPr id="19" name="card"/>
          <p:cNvSpPr/>
          <p:nvPr/>
        </p:nvSpPr>
        <p:spPr>
          <a:xfrm>
            <a:off x="6217920" y="1645920"/>
            <a:ext cx="2560320" cy="2926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0" name="badge"/>
          <p:cNvSpPr/>
          <p:nvPr/>
        </p:nvSpPr>
        <p:spPr>
          <a:xfrm>
            <a:off x="6446520" y="181051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644652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704088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Confirm</a:t>
            </a:r>
            <a:endParaRPr lang="en-US" sz="1900" dirty="0"/>
          </a:p>
        </p:txBody>
      </p:sp>
      <p:sp>
        <p:nvSpPr>
          <p:cNvPr id="23" name="Text 20"/>
          <p:cNvSpPr txBox="1"/>
          <p:nvPr/>
        </p:nvSpPr>
        <p:spPr>
          <a:xfrm>
            <a:off x="6446520" y="2423160"/>
            <a:ext cx="2148840" cy="2103120"/>
          </a:xfrm>
          <a:prstGeom prst="rect">
            <a:avLst/>
          </a:prstGeom>
          <a:noFill/>
          <a:ln/>
        </p:spPr>
        <p:txBody>
          <a:bodyPr wrap="square" lIns="0" tIns="0" rIns="0" bIns="0" rtlCol="0" anchor="t"/>
          <a:lstStyle/>
          <a:p>
            <a:pPr indent="0" marL="0">
              <a:buNone/>
            </a:pPr>
            <a:r>
              <a:rPr lang="en-US" sz="1400" dirty="0">
                <a:solidFill>
                  <a:schemeClr val="tx1"/>
                </a:solidFill>
              </a:rPr>
              <a:t>LLM test: 60 POST /pay calls, p95 &lt;= 111 ms. Faulty code: 403 ms, assertion fails. Known-good code: passes. Confirming.</a:t>
            </a:r>
            <a:endParaRPr lang="en-US" sz="1400" dirty="0"/>
          </a:p>
        </p:txBody>
      </p:sp>
      <p:sp>
        <p:nvSpPr>
          <p:cNvPr id="24" name="arrow"/>
          <p:cNvSpPr/>
          <p:nvPr/>
        </p:nvSpPr>
        <p:spPr>
          <a:xfrm>
            <a:off x="8778240" y="3108960"/>
            <a:ext cx="274320" cy="0"/>
          </a:xfrm>
          <a:prstGeom prst="line">
            <a:avLst/>
          </a:prstGeom>
          <a:noFill/>
          <a:ln w="15875">
            <a:solidFill>
              <a:srgbClr val="5A6072"/>
            </a:solidFill>
            <a:prstDash val="solid"/>
            <a:tailEnd type="triangle"/>
          </a:ln>
        </p:spPr>
      </p:sp>
      <p:sp>
        <p:nvSpPr>
          <p:cNvPr id="25" name="card"/>
          <p:cNvSpPr/>
          <p:nvPr/>
        </p:nvSpPr>
        <p:spPr>
          <a:xfrm>
            <a:off x="9052560" y="1645920"/>
            <a:ext cx="2560320" cy="29260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6" name="badge"/>
          <p:cNvSpPr/>
          <p:nvPr/>
        </p:nvSpPr>
        <p:spPr>
          <a:xfrm>
            <a:off x="9281160" y="1810512"/>
            <a:ext cx="457200" cy="457200"/>
          </a:xfrm>
          <a:prstGeom prst="ellipse">
            <a:avLst/>
          </a:prstGeom>
          <a:solidFill>
            <a:schemeClr val="accent1"/>
          </a:solidFill>
          <a:ln w="12700">
            <a:solidFill>
              <a:schemeClr val="accent1"/>
            </a:solidFill>
            <a:prstDash val="solid"/>
          </a:ln>
        </p:spPr>
      </p:sp>
      <p:sp>
        <p:nvSpPr>
          <p:cNvPr id="27" name="Text 24"/>
          <p:cNvSpPr txBox="1"/>
          <p:nvPr/>
        </p:nvSpPr>
        <p:spPr>
          <a:xfrm>
            <a:off x="928116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8" name="Text 25"/>
          <p:cNvSpPr txBox="1"/>
          <p:nvPr/>
        </p:nvSpPr>
        <p:spPr>
          <a:xfrm>
            <a:off x="9875520" y="1847088"/>
            <a:ext cx="16459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Hand off</a:t>
            </a:r>
            <a:endParaRPr lang="en-US" sz="1900" dirty="0"/>
          </a:p>
        </p:txBody>
      </p:sp>
      <p:sp>
        <p:nvSpPr>
          <p:cNvPr id="29" name="Text 26"/>
          <p:cNvSpPr txBox="1"/>
          <p:nvPr/>
        </p:nvSpPr>
        <p:spPr>
          <a:xfrm>
            <a:off x="9281160" y="2423160"/>
            <a:ext cx="2148840" cy="2103120"/>
          </a:xfrm>
          <a:prstGeom prst="rect">
            <a:avLst/>
          </a:prstGeom>
          <a:noFill/>
          <a:ln/>
        </p:spPr>
        <p:txBody>
          <a:bodyPr wrap="square" lIns="0" tIns="0" rIns="0" bIns="0" rtlCol="0" anchor="t"/>
          <a:lstStyle/>
          <a:p>
            <a:pPr indent="0" marL="0">
              <a:buNone/>
            </a:pPr>
            <a:r>
              <a:rPr lang="en-US" sz="1400" dirty="0">
                <a:solidFill>
                  <a:schemeClr val="tx1"/>
                </a:solidFill>
              </a:rPr>
              <a:t>Recommended action code_fix, owner team-payments. No change made; waiting for a named approver.</a:t>
            </a:r>
            <a:endParaRPr lang="en-US" sz="1400" dirty="0"/>
          </a:p>
        </p:txBody>
      </p:sp>
      <p:sp>
        <p:nvSpPr>
          <p:cNvPr id="30" name="card"/>
          <p:cNvSpPr/>
          <p:nvPr/>
        </p:nvSpPr>
        <p:spPr>
          <a:xfrm>
            <a:off x="548640" y="4846320"/>
            <a:ext cx="11064240" cy="777240"/>
          </a:xfrm>
          <a:prstGeom prst="rect">
            <a:avLst/>
          </a:prstGeom>
          <a:solidFill>
            <a:schemeClr val="tx1"/>
          </a:solidFill>
          <a:ln w="9525">
            <a:solidFill>
              <a:schemeClr val="tx1"/>
            </a:solidFill>
            <a:prstDash val="solid"/>
          </a:ln>
        </p:spPr>
      </p:sp>
      <p:sp>
        <p:nvSpPr>
          <p:cNvPr id="31" name="Text 28"/>
          <p:cNvSpPr txBox="1"/>
          <p:nvPr/>
        </p:nvSpPr>
        <p:spPr>
          <a:xfrm>
            <a:off x="777240" y="4892040"/>
            <a:ext cx="10607040" cy="68580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detect -&gt; context (packet 94d8107f) -&gt; trace hybrid -&gt; trace hybrid+llm (gpt-5.4-mini, 3.3k tokens, 10.5 s) -&gt; test template -&gt; test llm -&gt; handoff: awaiting human approval</a:t>
            </a:r>
            <a:endParaRPr lang="en-US" sz="12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TECHNICAL IMPLEMENTATION</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Tools, models and retrieval</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45920"/>
            <a:ext cx="3383280" cy="33832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Text 5"/>
          <p:cNvSpPr txBox="1"/>
          <p:nvPr/>
        </p:nvSpPr>
        <p:spPr>
          <a:xfrm>
            <a:off x="822960" y="1783080"/>
            <a:ext cx="283464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Tools</a:t>
            </a:r>
            <a:endParaRPr lang="en-US" sz="2000" dirty="0"/>
          </a:p>
        </p:txBody>
      </p:sp>
      <p:sp>
        <p:nvSpPr>
          <p:cNvPr id="9" name="Text 6"/>
          <p:cNvSpPr txBox="1"/>
          <p:nvPr/>
        </p:nvSpPr>
        <p:spPr>
          <a:xfrm>
            <a:off x="822960" y="2377440"/>
            <a:ext cx="2880360" cy="25603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Python, FastAPI, Uvicorn, Pydantic</a:t>
            </a:r>
            <a:endParaRPr lang="en-US" sz="1500" dirty="0"/>
          </a:p>
          <a:p>
            <a:pPr marL="203200" indent="-203200">
              <a:spcAft>
                <a:spcPts val="600"/>
              </a:spcAft>
              <a:buSzPct val="100000"/>
              <a:buChar char="•"/>
            </a:pPr>
            <a:r>
              <a:rPr lang="en-US" sz="1500" dirty="0">
                <a:solidFill>
                  <a:schemeClr val="tx1"/>
                </a:solidFill>
              </a:rPr>
              <a:t>httpx, psutil, PyYAML</a:t>
            </a:r>
            <a:endParaRPr lang="en-US" sz="1500" dirty="0"/>
          </a:p>
          <a:p>
            <a:pPr marL="203200" indent="-203200">
              <a:spcAft>
                <a:spcPts val="600"/>
              </a:spcAft>
              <a:buSzPct val="100000"/>
              <a:buChar char="•"/>
            </a:pPr>
            <a:r>
              <a:rPr lang="en-US" sz="1500" dirty="0">
                <a:solidFill>
                  <a:schemeClr val="tx1"/>
                </a:solidFill>
              </a:rPr>
              <a:t>git diff / blame / revert</a:t>
            </a:r>
            <a:endParaRPr lang="en-US" sz="1500" dirty="0"/>
          </a:p>
          <a:p>
            <a:pPr marL="203200" indent="-203200">
              <a:spcAft>
                <a:spcPts val="600"/>
              </a:spcAft>
              <a:buSzPct val="100000"/>
              <a:buChar char="•"/>
            </a:pPr>
            <a:r>
              <a:rPr lang="en-US" sz="1500" dirty="0">
                <a:solidFill>
                  <a:schemeClr val="tx1"/>
                </a:solidFill>
              </a:rPr>
              <a:t>pytest + JUnit XML sandbox</a:t>
            </a:r>
            <a:endParaRPr lang="en-US" sz="1500" dirty="0"/>
          </a:p>
          <a:p>
            <a:pPr marL="203200" indent="-203200">
              <a:spcAft>
                <a:spcPts val="600"/>
              </a:spcAft>
              <a:buSzPct val="100000"/>
              <a:buChar char="•"/>
            </a:pPr>
            <a:r>
              <a:rPr lang="en-US" sz="1500" dirty="0">
                <a:solidFill>
                  <a:schemeClr val="tx1"/>
                </a:solidFill>
              </a:rPr>
              <a:t>Ruff, GitHub Actions</a:t>
            </a:r>
            <a:endParaRPr lang="en-US" sz="1500" dirty="0"/>
          </a:p>
        </p:txBody>
      </p:sp>
      <p:sp>
        <p:nvSpPr>
          <p:cNvPr id="10" name="card"/>
          <p:cNvSpPr/>
          <p:nvPr/>
        </p:nvSpPr>
        <p:spPr>
          <a:xfrm>
            <a:off x="4325112" y="1645920"/>
            <a:ext cx="3383280" cy="33832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1" name="Text 8"/>
          <p:cNvSpPr txBox="1"/>
          <p:nvPr/>
        </p:nvSpPr>
        <p:spPr>
          <a:xfrm>
            <a:off x="4599432" y="1783080"/>
            <a:ext cx="283464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Models</a:t>
            </a:r>
            <a:endParaRPr lang="en-US" sz="2000" dirty="0"/>
          </a:p>
        </p:txBody>
      </p:sp>
      <p:sp>
        <p:nvSpPr>
          <p:cNvPr id="12" name="Text 9"/>
          <p:cNvSpPr txBox="1"/>
          <p:nvPr/>
        </p:nvSpPr>
        <p:spPr>
          <a:xfrm>
            <a:off x="4599432" y="2377440"/>
            <a:ext cx="2880360" cy="25603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Primary LLM: OpenAI gpt-5.4-mini</a:t>
            </a:r>
            <a:endParaRPr lang="en-US" sz="1500" dirty="0"/>
          </a:p>
          <a:p>
            <a:pPr marL="203200" indent="-203200">
              <a:spcAft>
                <a:spcPts val="600"/>
              </a:spcAft>
              <a:buSzPct val="100000"/>
              <a:buChar char="•"/>
            </a:pPr>
            <a:r>
              <a:rPr lang="en-US" sz="1500" dirty="0">
                <a:solidFill>
                  <a:schemeClr val="tx1"/>
                </a:solidFill>
              </a:rPr>
              <a:t>Compared: gpt-oss-120b (Groq)</a:t>
            </a:r>
            <a:endParaRPr lang="en-US" sz="1500" dirty="0"/>
          </a:p>
          <a:p>
            <a:pPr marL="203200" indent="-203200">
              <a:spcAft>
                <a:spcPts val="600"/>
              </a:spcAft>
              <a:buSzPct val="100000"/>
              <a:buChar char="•"/>
            </a:pPr>
            <a:r>
              <a:rPr lang="en-US" sz="1500" dirty="0">
                <a:solidFill>
                  <a:schemeClr val="tx1"/>
                </a:solidFill>
              </a:rPr>
              <a:t>Embeddings: BAAI/bge-small-en-v1.5</a:t>
            </a:r>
            <a:endParaRPr lang="en-US" sz="1500" dirty="0"/>
          </a:p>
          <a:p>
            <a:pPr marL="203200" indent="-203200">
              <a:spcAft>
                <a:spcPts val="600"/>
              </a:spcAft>
              <a:buSzPct val="100000"/>
              <a:buChar char="•"/>
            </a:pPr>
            <a:r>
              <a:rPr lang="en-US" sz="1500" dirty="0">
                <a:solidFill>
                  <a:schemeClr val="tx1"/>
                </a:solidFill>
              </a:rPr>
              <a:t>Detector and tracer weights: no ML training</a:t>
            </a:r>
            <a:endParaRPr lang="en-US" sz="1500" dirty="0"/>
          </a:p>
          <a:p>
            <a:pPr marL="203200" indent="-203200">
              <a:spcAft>
                <a:spcPts val="600"/>
              </a:spcAft>
              <a:buSzPct val="100000"/>
              <a:buChar char="•"/>
            </a:pPr>
            <a:r>
              <a:rPr lang="en-US" sz="1500" dirty="0">
                <a:solidFill>
                  <a:schemeClr val="tx1"/>
                </a:solidFill>
              </a:rPr>
              <a:t>Every LLM answer cached by prompt hash</a:t>
            </a:r>
            <a:endParaRPr lang="en-US" sz="1500" dirty="0"/>
          </a:p>
        </p:txBody>
      </p:sp>
      <p:sp>
        <p:nvSpPr>
          <p:cNvPr id="13" name="card"/>
          <p:cNvSpPr/>
          <p:nvPr/>
        </p:nvSpPr>
        <p:spPr>
          <a:xfrm>
            <a:off x="8101584" y="1645920"/>
            <a:ext cx="3383280" cy="338328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Text 11"/>
          <p:cNvSpPr txBox="1"/>
          <p:nvPr/>
        </p:nvSpPr>
        <p:spPr>
          <a:xfrm>
            <a:off x="8375904" y="1783080"/>
            <a:ext cx="283464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Retrieval</a:t>
            </a:r>
            <a:endParaRPr lang="en-US" sz="2000" dirty="0"/>
          </a:p>
        </p:txBody>
      </p:sp>
      <p:sp>
        <p:nvSpPr>
          <p:cNvPr id="15" name="Text 12"/>
          <p:cNvSpPr txBox="1"/>
          <p:nvPr/>
        </p:nvSpPr>
        <p:spPr>
          <a:xfrm>
            <a:off x="8375904" y="2377440"/>
            <a:ext cx="2880360" cy="25603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AST function-level chunks</a:t>
            </a:r>
            <a:endParaRPr lang="en-US" sz="1500" dirty="0"/>
          </a:p>
          <a:p>
            <a:pPr marL="203200" indent="-203200">
              <a:spcAft>
                <a:spcPts val="600"/>
              </a:spcAft>
              <a:buSzPct val="100000"/>
              <a:buChar char="•"/>
            </a:pPr>
            <a:r>
              <a:rPr lang="en-US" sz="1500" dirty="0">
                <a:solidFill>
                  <a:schemeClr val="tx1"/>
                </a:solidFill>
              </a:rPr>
              <a:t>BM25 with identifier splitting</a:t>
            </a:r>
            <a:endParaRPr lang="en-US" sz="1500" dirty="0"/>
          </a:p>
          <a:p>
            <a:pPr marL="203200" indent="-203200">
              <a:spcAft>
                <a:spcPts val="600"/>
              </a:spcAft>
              <a:buSzPct val="100000"/>
              <a:buChar char="•"/>
            </a:pPr>
            <a:r>
              <a:rPr lang="en-US" sz="1500" dirty="0">
                <a:solidFill>
                  <a:schemeClr val="tx1"/>
                </a:solidFill>
              </a:rPr>
              <a:t>Dense cosine (fastembed, ONNX, CPU)</a:t>
            </a:r>
            <a:endParaRPr lang="en-US" sz="1500" dirty="0"/>
          </a:p>
          <a:p>
            <a:pPr marL="203200" indent="-203200">
              <a:spcAft>
                <a:spcPts val="600"/>
              </a:spcAft>
              <a:buSzPct val="100000"/>
              <a:buChar char="•"/>
            </a:pPr>
            <a:r>
              <a:rPr lang="en-US" sz="1500" dirty="0">
                <a:solidFill>
                  <a:schemeClr val="tx1"/>
                </a:solidFill>
              </a:rPr>
              <a:t>Route map + call graph + stack frames</a:t>
            </a:r>
            <a:endParaRPr lang="en-US" sz="1500" dirty="0"/>
          </a:p>
          <a:p>
            <a:pPr marL="203200" indent="-203200">
              <a:spcAft>
                <a:spcPts val="600"/>
              </a:spcAft>
              <a:buSzPct val="100000"/>
              <a:buChar char="•"/>
            </a:pPr>
            <a:r>
              <a:rPr lang="en-US" sz="1500" dirty="0">
                <a:solidFill>
                  <a:schemeClr val="tx1"/>
                </a:solidFill>
              </a:rPr>
              <a:t>Behavioural git diff, tenant-scoped</a:t>
            </a:r>
            <a:endParaRPr lang="en-US" sz="1500" dirty="0"/>
          </a:p>
        </p:txBody>
      </p:sp>
      <p:sp>
        <p:nvSpPr>
          <p:cNvPr id="16" name="Text 13"/>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1500" i="1" dirty="0">
                <a:solidFill>
                  <a:schemeClr val="accent1"/>
                </a:solidFill>
              </a:rPr>
              <a:t>Guardrails: tenant-scoped retrieval, redaction, JSON-only LLM output with id validation, test guard + sandbox, no write access, human approval.</a:t>
            </a:r>
            <a:endParaRPr lang="en-US" sz="15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ALIGNMENT</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Does the experiment answer the question?</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657600"/>
                <a:gridCol w="5486400"/>
                <a:gridCol w="19202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 of the question</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is tested</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1B1E2B"/>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Right tenant, no false alarms (RQ1)</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36 fault runs + quiet controls vs fixed thresholds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Answered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Faulty function ranked first (RQ2)</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Top-1/Top-3/MRR vs v0, blame-deploy, BM25, dense, RAG+LLM; 6 ablations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Answered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LLM as re-ranker vs plain RAG (H3)</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Same candidates, 2 LLMs, same prompts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Answered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Generated test confirms the diagnosis (RQ3)</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Fail on faulty and pass on known-good, template vs LLM</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Answered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Right action instead of scaling (RQ4)</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Action accuracy vs scale-on-alert</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Answered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Fix proposal, PR, CI/CD rollout (steps 7-10)</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Designed; human approval recorded only</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Not evaluated</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5F6FA"/>
                    </a:solidFill>
                  </a:tcPr>
                </a:tc>
              </a:tr>
              <a:tr h="0">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Generalises beyond our 3 services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One small Python stack, faults written by us</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E2B"/>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76200" marR="76200" marT="38100" marB="3810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4343400"/>
            <a:ext cx="110642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Held-out check: Top-1 on seeds 1-2 only (seed 0 was used while building)</a:t>
            </a:r>
            <a:endParaRPr lang="en-US" sz="1800" dirty="0"/>
          </a:p>
        </p:txBody>
      </p:sp>
      <p:sp>
        <p:nvSpPr>
          <p:cNvPr id="9" name="card"/>
          <p:cNvSpPr/>
          <p:nvPr/>
        </p:nvSpPr>
        <p:spPr>
          <a:xfrm>
            <a:off x="548640" y="4800600"/>
            <a:ext cx="2615184" cy="128016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0" name="Text 6"/>
          <p:cNvSpPr txBox="1"/>
          <p:nvPr/>
        </p:nvSpPr>
        <p:spPr>
          <a:xfrm>
            <a:off x="777240" y="4846320"/>
            <a:ext cx="2194560" cy="731520"/>
          </a:xfrm>
          <a:prstGeom prst="rect">
            <a:avLst/>
          </a:prstGeom>
          <a:noFill/>
          <a:ln/>
        </p:spPr>
        <p:txBody>
          <a:bodyPr wrap="square" lIns="0" tIns="0" rIns="0" bIns="0" rtlCol="0" anchor="ctr"/>
          <a:lstStyle/>
          <a:p>
            <a:pPr indent="0" marL="0">
              <a:buNone/>
            </a:pPr>
            <a:r>
              <a:rPr lang="en-US" sz="3600" b="1" dirty="0">
                <a:solidFill>
                  <a:srgbClr val="3D4FA0"/>
                </a:solidFill>
                <a:latin typeface="Cambria" pitchFamily="34" charset="0"/>
                <a:ea typeface="Cambria" pitchFamily="34" charset="-122"/>
                <a:cs typeface="Cambria" pitchFamily="34" charset="-120"/>
              </a:rPr>
              <a:t>86%</a:t>
            </a:r>
            <a:endParaRPr lang="en-US" sz="3600" dirty="0"/>
          </a:p>
        </p:txBody>
      </p:sp>
      <p:sp>
        <p:nvSpPr>
          <p:cNvPr id="11" name="Text 7"/>
          <p:cNvSpPr txBox="1"/>
          <p:nvPr/>
        </p:nvSpPr>
        <p:spPr>
          <a:xfrm>
            <a:off x="777240" y="5577840"/>
            <a:ext cx="2194560" cy="365760"/>
          </a:xfrm>
          <a:prstGeom prst="rect">
            <a:avLst/>
          </a:prstGeom>
          <a:noFill/>
          <a:ln/>
        </p:spPr>
        <p:txBody>
          <a:bodyPr wrap="square" lIns="0" tIns="0" rIns="0" bIns="0" rtlCol="0" anchor="t"/>
          <a:lstStyle/>
          <a:p>
            <a:pPr indent="0" marL="0">
              <a:buNone/>
            </a:pPr>
            <a:r>
              <a:rPr lang="en-US" sz="1400" dirty="0">
                <a:solidFill>
                  <a:schemeClr val="tx2"/>
                </a:solidFill>
              </a:rPr>
              <a:t>Hybrid</a:t>
            </a:r>
            <a:endParaRPr lang="en-US" sz="1400" dirty="0"/>
          </a:p>
        </p:txBody>
      </p:sp>
      <p:sp>
        <p:nvSpPr>
          <p:cNvPr id="12" name="card"/>
          <p:cNvSpPr/>
          <p:nvPr/>
        </p:nvSpPr>
        <p:spPr>
          <a:xfrm>
            <a:off x="3346704" y="4800600"/>
            <a:ext cx="2615184" cy="128016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3" name="Text 9"/>
          <p:cNvSpPr txBox="1"/>
          <p:nvPr/>
        </p:nvSpPr>
        <p:spPr>
          <a:xfrm>
            <a:off x="3575304" y="4846320"/>
            <a:ext cx="2194560" cy="731520"/>
          </a:xfrm>
          <a:prstGeom prst="rect">
            <a:avLst/>
          </a:prstGeom>
          <a:noFill/>
          <a:ln/>
        </p:spPr>
        <p:txBody>
          <a:bodyPr wrap="square" lIns="0" tIns="0" rIns="0" bIns="0" rtlCol="0" anchor="ctr"/>
          <a:lstStyle/>
          <a:p>
            <a:pPr indent="0" marL="0">
              <a:buNone/>
            </a:pPr>
            <a:r>
              <a:rPr lang="en-US" sz="3600" b="1" dirty="0">
                <a:solidFill>
                  <a:srgbClr val="3D4FA0"/>
                </a:solidFill>
                <a:latin typeface="Cambria" pitchFamily="34" charset="0"/>
                <a:ea typeface="Cambria" pitchFamily="34" charset="-122"/>
                <a:cs typeface="Cambria" pitchFamily="34" charset="-120"/>
              </a:rPr>
              <a:t>77%</a:t>
            </a:r>
            <a:endParaRPr lang="en-US" sz="3600" dirty="0"/>
          </a:p>
        </p:txBody>
      </p:sp>
      <p:sp>
        <p:nvSpPr>
          <p:cNvPr id="14" name="Text 10"/>
          <p:cNvSpPr txBox="1"/>
          <p:nvPr/>
        </p:nvSpPr>
        <p:spPr>
          <a:xfrm>
            <a:off x="3575304" y="5577840"/>
            <a:ext cx="2194560" cy="365760"/>
          </a:xfrm>
          <a:prstGeom prst="rect">
            <a:avLst/>
          </a:prstGeom>
          <a:noFill/>
          <a:ln/>
        </p:spPr>
        <p:txBody>
          <a:bodyPr wrap="square" lIns="0" tIns="0" rIns="0" bIns="0" rtlCol="0" anchor="t"/>
          <a:lstStyle/>
          <a:p>
            <a:pPr indent="0" marL="0">
              <a:buNone/>
            </a:pPr>
            <a:r>
              <a:rPr lang="en-US" sz="1400" dirty="0">
                <a:solidFill>
                  <a:schemeClr val="tx2"/>
                </a:solidFill>
              </a:rPr>
              <a:t>Hybrid + LLM</a:t>
            </a:r>
            <a:endParaRPr lang="en-US" sz="1400" dirty="0"/>
          </a:p>
        </p:txBody>
      </p:sp>
      <p:sp>
        <p:nvSpPr>
          <p:cNvPr id="15" name="card"/>
          <p:cNvSpPr/>
          <p:nvPr/>
        </p:nvSpPr>
        <p:spPr>
          <a:xfrm>
            <a:off x="6144768" y="4800600"/>
            <a:ext cx="2615184" cy="128016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6" name="Text 12"/>
          <p:cNvSpPr txBox="1"/>
          <p:nvPr/>
        </p:nvSpPr>
        <p:spPr>
          <a:xfrm>
            <a:off x="6373368" y="4846320"/>
            <a:ext cx="2194560" cy="731520"/>
          </a:xfrm>
          <a:prstGeom prst="rect">
            <a:avLst/>
          </a:prstGeom>
          <a:noFill/>
          <a:ln/>
        </p:spPr>
        <p:txBody>
          <a:bodyPr wrap="square" lIns="0" tIns="0" rIns="0" bIns="0" rtlCol="0" anchor="ctr"/>
          <a:lstStyle/>
          <a:p>
            <a:pPr indent="0" marL="0">
              <a:buNone/>
            </a:pPr>
            <a:r>
              <a:rPr lang="en-US" sz="3600" b="1" dirty="0">
                <a:solidFill>
                  <a:srgbClr val="E07A2E"/>
                </a:solidFill>
                <a:latin typeface="Cambria" pitchFamily="34" charset="0"/>
                <a:ea typeface="Cambria" pitchFamily="34" charset="-122"/>
                <a:cs typeface="Cambria" pitchFamily="34" charset="-120"/>
              </a:rPr>
              <a:t>46%</a:t>
            </a:r>
            <a:endParaRPr lang="en-US" sz="3600" dirty="0"/>
          </a:p>
        </p:txBody>
      </p:sp>
      <p:sp>
        <p:nvSpPr>
          <p:cNvPr id="17" name="Text 13"/>
          <p:cNvSpPr txBox="1"/>
          <p:nvPr/>
        </p:nvSpPr>
        <p:spPr>
          <a:xfrm>
            <a:off x="6373368" y="5577840"/>
            <a:ext cx="2194560" cy="365760"/>
          </a:xfrm>
          <a:prstGeom prst="rect">
            <a:avLst/>
          </a:prstGeom>
          <a:noFill/>
          <a:ln/>
        </p:spPr>
        <p:txBody>
          <a:bodyPr wrap="square" lIns="0" tIns="0" rIns="0" bIns="0" rtlCol="0" anchor="t"/>
          <a:lstStyle/>
          <a:p>
            <a:pPr indent="0" marL="0">
              <a:buNone/>
            </a:pPr>
            <a:r>
              <a:rPr lang="en-US" sz="1400" dirty="0">
                <a:solidFill>
                  <a:schemeClr val="tx2"/>
                </a:solidFill>
              </a:rPr>
              <a:t>RAG + LLM</a:t>
            </a:r>
            <a:endParaRPr lang="en-US" sz="1400" dirty="0"/>
          </a:p>
        </p:txBody>
      </p:sp>
      <p:sp>
        <p:nvSpPr>
          <p:cNvPr id="18" name="card"/>
          <p:cNvSpPr/>
          <p:nvPr/>
        </p:nvSpPr>
        <p:spPr>
          <a:xfrm>
            <a:off x="8942832" y="4800600"/>
            <a:ext cx="2615184" cy="128016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9" name="Text 15"/>
          <p:cNvSpPr txBox="1"/>
          <p:nvPr/>
        </p:nvSpPr>
        <p:spPr>
          <a:xfrm>
            <a:off x="9171432" y="4846320"/>
            <a:ext cx="2194560" cy="731520"/>
          </a:xfrm>
          <a:prstGeom prst="rect">
            <a:avLst/>
          </a:prstGeom>
          <a:noFill/>
          <a:ln/>
        </p:spPr>
        <p:txBody>
          <a:bodyPr wrap="square" lIns="0" tIns="0" rIns="0" bIns="0" rtlCol="0" anchor="ctr"/>
          <a:lstStyle/>
          <a:p>
            <a:pPr indent="0" marL="0">
              <a:buNone/>
            </a:pPr>
            <a:r>
              <a:rPr lang="en-US" sz="3600" b="1" dirty="0">
                <a:solidFill>
                  <a:srgbClr val="E07A2E"/>
                </a:solidFill>
                <a:latin typeface="Cambria" pitchFamily="34" charset="0"/>
                <a:ea typeface="Cambria" pitchFamily="34" charset="-122"/>
                <a:cs typeface="Cambria" pitchFamily="34" charset="-120"/>
              </a:rPr>
              <a:t>36%</a:t>
            </a:r>
            <a:endParaRPr lang="en-US" sz="3600" dirty="0"/>
          </a:p>
        </p:txBody>
      </p:sp>
      <p:sp>
        <p:nvSpPr>
          <p:cNvPr id="20" name="Text 16"/>
          <p:cNvSpPr txBox="1"/>
          <p:nvPr/>
        </p:nvSpPr>
        <p:spPr>
          <a:xfrm>
            <a:off x="9171432" y="5577840"/>
            <a:ext cx="2194560" cy="365760"/>
          </a:xfrm>
          <a:prstGeom prst="rect">
            <a:avLst/>
          </a:prstGeom>
          <a:noFill/>
          <a:ln/>
        </p:spPr>
        <p:txBody>
          <a:bodyPr wrap="square" lIns="0" tIns="0" rIns="0" bIns="0" rtlCol="0" anchor="t"/>
          <a:lstStyle/>
          <a:p>
            <a:pPr indent="0" marL="0">
              <a:buNone/>
            </a:pPr>
            <a:r>
              <a:rPr lang="en-US" sz="1400" dirty="0">
                <a:solidFill>
                  <a:schemeClr val="tx2"/>
                </a:solidFill>
              </a:rPr>
              <a:t>Blame deploy</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LIMITATIONS AND FAILURE CASES</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What does not work yet</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00200"/>
            <a:ext cx="3383280" cy="352044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Shape 5"/>
          <p:cNvSpPr/>
          <p:nvPr/>
        </p:nvSpPr>
        <p:spPr>
          <a:xfrm>
            <a:off x="822960" y="1783080"/>
            <a:ext cx="292608" cy="292608"/>
          </a:xfrm>
          <a:prstGeom prst="ellipse">
            <a:avLst/>
          </a:prstGeom>
          <a:solidFill>
            <a:srgbClr val="3D4FA0"/>
          </a:solidFill>
          <a:ln w="12700">
            <a:solidFill>
              <a:srgbClr val="3D4FA0"/>
            </a:solidFill>
            <a:prstDash val="solid"/>
          </a:ln>
        </p:spPr>
      </p:sp>
      <p:sp>
        <p:nvSpPr>
          <p:cNvPr id="9" name="Text 6"/>
          <p:cNvSpPr txBox="1"/>
          <p:nvPr/>
        </p:nvSpPr>
        <p:spPr>
          <a:xfrm>
            <a:off x="1234440" y="1737360"/>
            <a:ext cx="256032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P1  Detection</a:t>
            </a:r>
            <a:endParaRPr lang="en-US" sz="1800" dirty="0"/>
          </a:p>
        </p:txBody>
      </p:sp>
      <p:sp>
        <p:nvSpPr>
          <p:cNvPr id="10" name="Text 7"/>
          <p:cNvSpPr txBox="1"/>
          <p:nvPr/>
        </p:nvSpPr>
        <p:spPr>
          <a:xfrm>
            <a:off x="822960" y="2286000"/>
            <a:ext cx="2880360" cy="2743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F09 lock contention never detected: +4 ms per reservation at 3 workers is under the floors</a:t>
            </a:r>
            <a:endParaRPr lang="en-US" sz="1300" dirty="0"/>
          </a:p>
          <a:p>
            <a:pPr marL="203200" indent="-203200">
              <a:spcAft>
                <a:spcPts val="600"/>
              </a:spcAft>
              <a:buSzPct val="100000"/>
              <a:buChar char="•"/>
            </a:pPr>
            <a:r>
              <a:rPr lang="en-US" sz="1300" dirty="0">
                <a:solidFill>
                  <a:schemeClr val="tx1"/>
                </a:solidFill>
              </a:rPr>
              <a:t>2 of 6 quiet controls alarmed: /pay is bursty after a restart</a:t>
            </a:r>
            <a:endParaRPr lang="en-US" sz="1300" dirty="0"/>
          </a:p>
          <a:p>
            <a:pPr marL="203200" indent="-203200">
              <a:spcAft>
                <a:spcPts val="600"/>
              </a:spcAft>
              <a:buSzPct val="100000"/>
              <a:buChar char="•"/>
            </a:pPr>
            <a:r>
              <a:rPr lang="en-US" sz="1300" dirty="0">
                <a:solidFill>
                  <a:schemeClr val="tx1"/>
                </a:solidFill>
              </a:rPr>
              <a:t>Needs a known change time (deploy or traffic shift)</a:t>
            </a:r>
            <a:endParaRPr lang="en-US" sz="1300" dirty="0"/>
          </a:p>
          <a:p>
            <a:pPr marL="203200" indent="-203200">
              <a:spcAft>
                <a:spcPts val="600"/>
              </a:spcAft>
              <a:buSzPct val="100000"/>
              <a:buChar char="•"/>
            </a:pPr>
            <a:r>
              <a:rPr lang="en-US" sz="1300" dirty="0">
                <a:solidFill>
                  <a:schemeClr val="tx1"/>
                </a:solidFill>
              </a:rPr>
              <a:t>z = 6 and the floors were set by hand on seed 0</a:t>
            </a:r>
            <a:endParaRPr lang="en-US" sz="1300" dirty="0"/>
          </a:p>
        </p:txBody>
      </p:sp>
      <p:sp>
        <p:nvSpPr>
          <p:cNvPr id="11" name="card"/>
          <p:cNvSpPr/>
          <p:nvPr/>
        </p:nvSpPr>
        <p:spPr>
          <a:xfrm>
            <a:off x="4325112" y="1600200"/>
            <a:ext cx="3383280" cy="352044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2" name="Shape 9"/>
          <p:cNvSpPr/>
          <p:nvPr/>
        </p:nvSpPr>
        <p:spPr>
          <a:xfrm>
            <a:off x="4599432" y="1783080"/>
            <a:ext cx="292608" cy="292608"/>
          </a:xfrm>
          <a:prstGeom prst="ellipse">
            <a:avLst/>
          </a:prstGeom>
          <a:solidFill>
            <a:srgbClr val="E07A2E"/>
          </a:solidFill>
          <a:ln w="12700">
            <a:solidFill>
              <a:srgbClr val="E07A2E"/>
            </a:solidFill>
            <a:prstDash val="solid"/>
          </a:ln>
        </p:spPr>
      </p:sp>
      <p:sp>
        <p:nvSpPr>
          <p:cNvPr id="13" name="Text 10"/>
          <p:cNvSpPr txBox="1"/>
          <p:nvPr/>
        </p:nvSpPr>
        <p:spPr>
          <a:xfrm>
            <a:off x="5010912" y="1737360"/>
            <a:ext cx="256032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P2  Tracing</a:t>
            </a:r>
            <a:endParaRPr lang="en-US" sz="1800" dirty="0"/>
          </a:p>
        </p:txBody>
      </p:sp>
      <p:sp>
        <p:nvSpPr>
          <p:cNvPr id="14" name="Text 11"/>
          <p:cNvSpPr txBox="1"/>
          <p:nvPr/>
        </p:nvSpPr>
        <p:spPr>
          <a:xfrm>
            <a:off x="4599432" y="2286000"/>
            <a:ext cx="2880360" cy="2743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F07: the fault is a module-level regex; the LLM named the function that uses it</a:t>
            </a:r>
            <a:endParaRPr lang="en-US" sz="1300" dirty="0"/>
          </a:p>
          <a:p>
            <a:pPr marL="203200" indent="-203200">
              <a:spcAft>
                <a:spcPts val="600"/>
              </a:spcAft>
              <a:buSzPct val="100000"/>
              <a:buChar char="•"/>
            </a:pPr>
            <a:r>
              <a:rPr lang="en-US" sz="1300" dirty="0">
                <a:solidFill>
                  <a:schemeClr val="tx1"/>
                </a:solidFill>
              </a:rPr>
              <a:t>F06: a decoy edit in config.py on the call path outranked the real change once</a:t>
            </a:r>
            <a:endParaRPr lang="en-US" sz="1300" dirty="0"/>
          </a:p>
          <a:p>
            <a:pPr marL="203200" indent="-203200">
              <a:spcAft>
                <a:spcPts val="600"/>
              </a:spcAft>
              <a:buSzPct val="100000"/>
              <a:buChar char="•"/>
            </a:pPr>
            <a:r>
              <a:rPr lang="en-US" sz="1300" dirty="0">
                <a:solidFill>
                  <a:schemeClr val="tx1"/>
                </a:solidFill>
              </a:rPr>
              <a:t>BM25 and dense add noise when structure already decides</a:t>
            </a:r>
            <a:endParaRPr lang="en-US" sz="1300" dirty="0"/>
          </a:p>
          <a:p>
            <a:pPr marL="203200" indent="-203200">
              <a:spcAft>
                <a:spcPts val="600"/>
              </a:spcAft>
              <a:buSzPct val="100000"/>
              <a:buChar char="•"/>
            </a:pPr>
            <a:r>
              <a:rPr lang="en-US" sz="1300" dirty="0">
                <a:solidFill>
                  <a:schemeClr val="tx1"/>
                </a:solidFill>
              </a:rPr>
              <a:t>Python only; call graph links names, not types</a:t>
            </a:r>
            <a:endParaRPr lang="en-US" sz="1300" dirty="0"/>
          </a:p>
        </p:txBody>
      </p:sp>
      <p:sp>
        <p:nvSpPr>
          <p:cNvPr id="15" name="card"/>
          <p:cNvSpPr/>
          <p:nvPr/>
        </p:nvSpPr>
        <p:spPr>
          <a:xfrm>
            <a:off x="8101584" y="1600200"/>
            <a:ext cx="3383280" cy="352044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6" name="Shape 13"/>
          <p:cNvSpPr/>
          <p:nvPr/>
        </p:nvSpPr>
        <p:spPr>
          <a:xfrm>
            <a:off x="8375904" y="1783080"/>
            <a:ext cx="292608" cy="292608"/>
          </a:xfrm>
          <a:prstGeom prst="ellipse">
            <a:avLst/>
          </a:prstGeom>
          <a:solidFill>
            <a:srgbClr val="3C8D5A"/>
          </a:solidFill>
          <a:ln w="12700">
            <a:solidFill>
              <a:srgbClr val="3C8D5A"/>
            </a:solidFill>
            <a:prstDash val="solid"/>
          </a:ln>
        </p:spPr>
      </p:sp>
      <p:sp>
        <p:nvSpPr>
          <p:cNvPr id="17" name="Text 14"/>
          <p:cNvSpPr txBox="1"/>
          <p:nvPr/>
        </p:nvSpPr>
        <p:spPr>
          <a:xfrm>
            <a:off x="8787384" y="1737360"/>
            <a:ext cx="2560320" cy="38404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P3  Tests</a:t>
            </a:r>
            <a:endParaRPr lang="en-US" sz="1800" dirty="0"/>
          </a:p>
        </p:txBody>
      </p:sp>
      <p:sp>
        <p:nvSpPr>
          <p:cNvPr id="18" name="Text 15"/>
          <p:cNvSpPr txBox="1"/>
          <p:nvPr/>
        </p:nvSpPr>
        <p:spPr>
          <a:xfrm>
            <a:off x="8375904" y="2286000"/>
            <a:ext cx="2880360" cy="2743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Single-threaded tests cannot show lock contention</a:t>
            </a:r>
            <a:endParaRPr lang="en-US" sz="1300" dirty="0"/>
          </a:p>
          <a:p>
            <a:pPr marL="203200" indent="-203200">
              <a:spcAft>
                <a:spcPts val="600"/>
              </a:spcAft>
              <a:buSzPct val="100000"/>
              <a:buChar char="•"/>
            </a:pPr>
            <a:r>
              <a:rPr lang="en-US" sz="1300" dirty="0">
                <a:solidFill>
                  <a:schemeClr val="tx1"/>
                </a:solidFill>
              </a:rPr>
              <a:t>gpt-5.4-mini returned an empty answer 3 times (no test); gpt-oss-120b tests often failed the known-good code too</a:t>
            </a:r>
            <a:endParaRPr lang="en-US" sz="1300" dirty="0"/>
          </a:p>
          <a:p>
            <a:pPr marL="203200" indent="-203200">
              <a:spcAft>
                <a:spcPts val="600"/>
              </a:spcAft>
              <a:buSzPct val="100000"/>
              <a:buChar char="•"/>
            </a:pPr>
            <a:r>
              <a:rPr lang="en-US" sz="1300" dirty="0">
                <a:solidFill>
                  <a:schemeClr val="tx1"/>
                </a:solidFill>
              </a:rPr>
              <a:t>Latency tests near a budget can flip under machine load</a:t>
            </a:r>
            <a:endParaRPr lang="en-US" sz="1300" dirty="0"/>
          </a:p>
          <a:p>
            <a:pPr marL="203200" indent="-203200">
              <a:spcAft>
                <a:spcPts val="600"/>
              </a:spcAft>
              <a:buSzPct val="100000"/>
              <a:buChar char="•"/>
            </a:pPr>
            <a:r>
              <a:rPr lang="en-US" sz="1300" dirty="0">
                <a:solidFill>
                  <a:schemeClr val="tx1"/>
                </a:solidFill>
              </a:rPr>
              <a:t>Known-good = fault commit reverted; latent bugs have no such version</a:t>
            </a:r>
            <a:endParaRPr lang="en-US" sz="1300" dirty="0"/>
          </a:p>
        </p:txBody>
      </p:sp>
      <p:sp>
        <p:nvSpPr>
          <p:cNvPr id="19" name="card"/>
          <p:cNvSpPr/>
          <p:nvPr/>
        </p:nvSpPr>
        <p:spPr>
          <a:xfrm>
            <a:off x="548640" y="5303520"/>
            <a:ext cx="11064240" cy="822960"/>
          </a:xfrm>
          <a:prstGeom prst="rect">
            <a:avLst/>
          </a:prstGeom>
          <a:solidFill>
            <a:schemeClr val="accent4"/>
          </a:solidFill>
          <a:ln w="9525">
            <a:solidFill>
              <a:schemeClr val="accent4"/>
            </a:solidFill>
            <a:prstDash val="solid"/>
          </a:ln>
        </p:spPr>
      </p:sp>
      <p:sp>
        <p:nvSpPr>
          <p:cNvPr id="20" name="Text 17"/>
          <p:cNvSpPr txBox="1"/>
          <p:nvPr/>
        </p:nvSpPr>
        <p:spPr>
          <a:xfrm>
            <a:off x="777240" y="5303520"/>
            <a:ext cx="10607040" cy="822960"/>
          </a:xfrm>
          <a:prstGeom prst="rect">
            <a:avLst/>
          </a:prstGeom>
          <a:noFill/>
          <a:ln/>
        </p:spPr>
        <p:txBody>
          <a:bodyPr wrap="square" lIns="0" tIns="0" rIns="0" bIns="0" rtlCol="0" anchor="ctr"/>
          <a:lstStyle/>
          <a:p>
            <a:pPr indent="0" marL="0">
              <a:buNone/>
            </a:pPr>
            <a:r>
              <a:rPr lang="en-US" sz="1400" dirty="0">
                <a:solidFill>
                  <a:schemeClr val="tx1"/>
                </a:solidFill>
              </a:rPr>
              <a:t>Across the project: one small Python stack on one machine; faults, decoys and traffic written by us; steps 7-10 not automated; LLM runs once per prompt (cached).</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THREATS TO VALIDITY</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Possible sources of error and bias</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00200"/>
            <a:ext cx="3383280" cy="20574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8" name="Text 5"/>
          <p:cNvSpPr txBox="1"/>
          <p:nvPr/>
        </p:nvSpPr>
        <p:spPr>
          <a:xfrm>
            <a:off x="822960" y="1764792"/>
            <a:ext cx="288036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We wrote the faults</a:t>
            </a:r>
            <a:endParaRPr lang="en-US" sz="1800" dirty="0"/>
          </a:p>
        </p:txBody>
      </p:sp>
      <p:sp>
        <p:nvSpPr>
          <p:cNvPr id="9" name="Text 6"/>
          <p:cNvSpPr txBox="1"/>
          <p:nvPr/>
        </p:nvSpPr>
        <p:spPr>
          <a:xfrm>
            <a:off x="822960" y="2240280"/>
            <a:ext cx="2880360" cy="1371600"/>
          </a:xfrm>
          <a:prstGeom prst="rect">
            <a:avLst/>
          </a:prstGeom>
          <a:noFill/>
          <a:ln/>
        </p:spPr>
        <p:txBody>
          <a:bodyPr wrap="square" lIns="0" tIns="0" rIns="0" bIns="0" rtlCol="0" anchor="t"/>
          <a:lstStyle/>
          <a:p>
            <a:pPr indent="0" marL="0">
              <a:buNone/>
            </a:pPr>
            <a:r>
              <a:rPr lang="en-US" sz="1300" dirty="0">
                <a:solidFill>
                  <a:schemeClr val="tx2"/>
                </a:solidFill>
              </a:rPr>
              <a:t>The same team wrote the faults and the tracer. Weights were fixed before the runs; seed 0 was used for development, seeds 1-2 are held out.</a:t>
            </a:r>
            <a:endParaRPr lang="en-US" sz="1300" dirty="0"/>
          </a:p>
        </p:txBody>
      </p:sp>
      <p:sp>
        <p:nvSpPr>
          <p:cNvPr id="10" name="card"/>
          <p:cNvSpPr/>
          <p:nvPr/>
        </p:nvSpPr>
        <p:spPr>
          <a:xfrm>
            <a:off x="4325112" y="1600200"/>
            <a:ext cx="3383280" cy="20574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1" name="Text 8"/>
          <p:cNvSpPr txBox="1"/>
          <p:nvPr/>
        </p:nvSpPr>
        <p:spPr>
          <a:xfrm>
            <a:off x="4599432" y="1764792"/>
            <a:ext cx="288036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Change-induced faults only</a:t>
            </a:r>
            <a:endParaRPr lang="en-US" sz="1800" dirty="0"/>
          </a:p>
        </p:txBody>
      </p:sp>
      <p:sp>
        <p:nvSpPr>
          <p:cNvPr id="12" name="Text 9"/>
          <p:cNvSpPr txBox="1"/>
          <p:nvPr/>
        </p:nvSpPr>
        <p:spPr>
          <a:xfrm>
            <a:off x="4599432" y="2240280"/>
            <a:ext cx="2880360" cy="1371600"/>
          </a:xfrm>
          <a:prstGeom prst="rect">
            <a:avLst/>
          </a:prstGeom>
          <a:noFill/>
          <a:ln/>
        </p:spPr>
        <p:txBody>
          <a:bodyPr wrap="square" lIns="0" tIns="0" rIns="0" bIns="0" rtlCol="0" anchor="t"/>
          <a:lstStyle/>
          <a:p>
            <a:pPr indent="0" marL="0">
              <a:buNone/>
            </a:pPr>
            <a:r>
              <a:rPr lang="en-US" sz="1300" dirty="0">
                <a:solidFill>
                  <a:schemeClr val="tx2"/>
                </a:solidFill>
              </a:rPr>
              <a:t>Every fault arrives in a deployment, which favours diff-based evidence. Latent bugs triggered by new traffic are not covered.</a:t>
            </a:r>
            <a:endParaRPr lang="en-US" sz="1300" dirty="0"/>
          </a:p>
        </p:txBody>
      </p:sp>
      <p:sp>
        <p:nvSpPr>
          <p:cNvPr id="13" name="card"/>
          <p:cNvSpPr/>
          <p:nvPr/>
        </p:nvSpPr>
        <p:spPr>
          <a:xfrm>
            <a:off x="8101584" y="1600200"/>
            <a:ext cx="3383280" cy="20574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4" name="Text 11"/>
          <p:cNvSpPr txBox="1"/>
          <p:nvPr/>
        </p:nvSpPr>
        <p:spPr>
          <a:xfrm>
            <a:off x="8375904" y="1764792"/>
            <a:ext cx="288036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Small sample</a:t>
            </a:r>
            <a:endParaRPr lang="en-US" sz="1800" dirty="0"/>
          </a:p>
        </p:txBody>
      </p:sp>
      <p:sp>
        <p:nvSpPr>
          <p:cNvPr id="15" name="Text 12"/>
          <p:cNvSpPr txBox="1"/>
          <p:nvPr/>
        </p:nvSpPr>
        <p:spPr>
          <a:xfrm>
            <a:off x="8375904" y="2240280"/>
            <a:ext cx="2880360" cy="1371600"/>
          </a:xfrm>
          <a:prstGeom prst="rect">
            <a:avLst/>
          </a:prstGeom>
          <a:noFill/>
          <a:ln/>
        </p:spPr>
        <p:txBody>
          <a:bodyPr wrap="square" lIns="0" tIns="0" rIns="0" bIns="0" rtlCol="0" anchor="t"/>
          <a:lstStyle/>
          <a:p>
            <a:pPr indent="0" marL="0">
              <a:buNone/>
            </a:pPr>
            <a:r>
              <a:rPr lang="en-US" sz="1300" dirty="0">
                <a:solidFill>
                  <a:schemeClr val="tx2"/>
                </a:solidFill>
              </a:rPr>
              <a:t>45 runs from 15 scenarios. One wrong answer moves a rate by several points; read differences as directional.</a:t>
            </a:r>
            <a:endParaRPr lang="en-US" sz="1300" dirty="0"/>
          </a:p>
        </p:txBody>
      </p:sp>
      <p:sp>
        <p:nvSpPr>
          <p:cNvPr id="16" name="card"/>
          <p:cNvSpPr/>
          <p:nvPr/>
        </p:nvSpPr>
        <p:spPr>
          <a:xfrm>
            <a:off x="548640" y="3840480"/>
            <a:ext cx="3383280" cy="20574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7" name="Text 14"/>
          <p:cNvSpPr txBox="1"/>
          <p:nvPr/>
        </p:nvSpPr>
        <p:spPr>
          <a:xfrm>
            <a:off x="822960" y="4005072"/>
            <a:ext cx="288036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Timing noise</a:t>
            </a:r>
            <a:endParaRPr lang="en-US" sz="1800" dirty="0"/>
          </a:p>
        </p:txBody>
      </p:sp>
      <p:sp>
        <p:nvSpPr>
          <p:cNvPr id="18" name="Text 15"/>
          <p:cNvSpPr txBox="1"/>
          <p:nvPr/>
        </p:nvSpPr>
        <p:spPr>
          <a:xfrm>
            <a:off x="822960" y="4480560"/>
            <a:ext cx="2880360" cy="1371600"/>
          </a:xfrm>
          <a:prstGeom prst="rect">
            <a:avLst/>
          </a:prstGeom>
          <a:noFill/>
          <a:ln/>
        </p:spPr>
        <p:txBody>
          <a:bodyPr wrap="square" lIns="0" tIns="0" rIns="0" bIns="0" rtlCol="0" anchor="t"/>
          <a:lstStyle/>
          <a:p>
            <a:pPr indent="0" marL="0">
              <a:buNone/>
            </a:pPr>
            <a:r>
              <a:rPr lang="en-US" sz="1300" dirty="0">
                <a:solidFill>
                  <a:schemeClr val="tx2"/>
                </a:solidFill>
              </a:rPr>
              <a:t>Load, tests and services share one laptop. Latency tests can flip near a budget; we report every run, no re-runs.</a:t>
            </a:r>
            <a:endParaRPr lang="en-US" sz="1300" dirty="0"/>
          </a:p>
        </p:txBody>
      </p:sp>
      <p:sp>
        <p:nvSpPr>
          <p:cNvPr id="19" name="card"/>
          <p:cNvSpPr/>
          <p:nvPr/>
        </p:nvSpPr>
        <p:spPr>
          <a:xfrm>
            <a:off x="4325112" y="3840480"/>
            <a:ext cx="3383280" cy="20574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0" name="Text 17"/>
          <p:cNvSpPr txBox="1"/>
          <p:nvPr/>
        </p:nvSpPr>
        <p:spPr>
          <a:xfrm>
            <a:off x="4599432" y="4005072"/>
            <a:ext cx="288036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LLM variance</a:t>
            </a:r>
            <a:endParaRPr lang="en-US" sz="1800" dirty="0"/>
          </a:p>
        </p:txBody>
      </p:sp>
      <p:sp>
        <p:nvSpPr>
          <p:cNvPr id="21" name="Text 18"/>
          <p:cNvSpPr txBox="1"/>
          <p:nvPr/>
        </p:nvSpPr>
        <p:spPr>
          <a:xfrm>
            <a:off x="4599432" y="4480560"/>
            <a:ext cx="2880360" cy="1371600"/>
          </a:xfrm>
          <a:prstGeom prst="rect">
            <a:avLst/>
          </a:prstGeom>
          <a:noFill/>
          <a:ln/>
        </p:spPr>
        <p:txBody>
          <a:bodyPr wrap="square" lIns="0" tIns="0" rIns="0" bIns="0" rtlCol="0" anchor="t"/>
          <a:lstStyle/>
          <a:p>
            <a:pPr indent="0" marL="0">
              <a:buNone/>
            </a:pPr>
            <a:r>
              <a:rPr lang="en-US" sz="1300" dirty="0">
                <a:solidFill>
                  <a:schemeClr val="tx2"/>
                </a:solidFill>
              </a:rPr>
              <a:t>One run per prompt, cached. GPT-5 models expose no temperature; another prompt or model version could change scores.</a:t>
            </a:r>
            <a:endParaRPr lang="en-US" sz="1300" dirty="0"/>
          </a:p>
        </p:txBody>
      </p:sp>
      <p:sp>
        <p:nvSpPr>
          <p:cNvPr id="22" name="card"/>
          <p:cNvSpPr/>
          <p:nvPr/>
        </p:nvSpPr>
        <p:spPr>
          <a:xfrm>
            <a:off x="8101584" y="3840480"/>
            <a:ext cx="3383280" cy="20574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23" name="Text 20"/>
          <p:cNvSpPr txBox="1"/>
          <p:nvPr/>
        </p:nvSpPr>
        <p:spPr>
          <a:xfrm>
            <a:off x="8375904" y="4005072"/>
            <a:ext cx="288036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Baseline strength</a:t>
            </a:r>
            <a:endParaRPr lang="en-US" sz="1800" dirty="0"/>
          </a:p>
        </p:txBody>
      </p:sp>
      <p:sp>
        <p:nvSpPr>
          <p:cNvPr id="24" name="Text 21"/>
          <p:cNvSpPr txBox="1"/>
          <p:nvPr/>
        </p:nvSpPr>
        <p:spPr>
          <a:xfrm>
            <a:off x="8375904" y="4480560"/>
            <a:ext cx="2880360" cy="1371600"/>
          </a:xfrm>
          <a:prstGeom prst="rect">
            <a:avLst/>
          </a:prstGeom>
          <a:noFill/>
          <a:ln/>
        </p:spPr>
        <p:txBody>
          <a:bodyPr wrap="square" lIns="0" tIns="0" rIns="0" bIns="0" rtlCol="0" anchor="t"/>
          <a:lstStyle/>
          <a:p>
            <a:pPr indent="0" marL="0">
              <a:buNone/>
            </a:pPr>
            <a:r>
              <a:rPr lang="en-US" sz="1300" dirty="0">
                <a:solidFill>
                  <a:schemeClr val="tx2"/>
                </a:solidFill>
              </a:rPr>
              <a:t>Fixed thresholds use common defaults, not values tuned to these services. A tuned threshold would do better.</a:t>
            </a:r>
            <a:endParaRPr lang="en-US" sz="13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METHODOLOGY AND REPRODUCIBILITY</a:t>
            </a:r>
            <a:endParaRPr lang="en-US" sz="1200" dirty="0"/>
          </a:p>
        </p:txBody>
      </p:sp>
      <p:sp>
        <p:nvSpPr>
          <p:cNvPr id="3" name="Text 1"/>
          <p:cNvSpPr/>
          <p:nvPr>
            <p:ph idx="101" type="title" hasCustomPrompt="1"/>
          </p:nvPr>
        </p:nvSpPr>
        <p:spPr>
          <a:xfrm>
            <a:off x="548640" y="603504"/>
            <a:ext cx="8595360"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Anyone can rerun every number on this deck</a:t>
            </a:r>
            <a:endParaRPr lang="en-US" sz="3000" dirty="0"/>
          </a:p>
        </p:txBody>
      </p:sp>
      <p:sp>
        <p:nvSpPr>
          <p:cNvPr id="4" name="owner pill"/>
          <p:cNvSpPr/>
          <p:nvPr/>
        </p:nvSpPr>
        <p:spPr>
          <a:xfrm>
            <a:off x="9235440" y="301752"/>
            <a:ext cx="2377440" cy="384048"/>
          </a:xfrm>
          <a:prstGeom prst="roundRect">
            <a:avLst>
              <a:gd name="adj" fmla="val 50000"/>
            </a:avLst>
          </a:prstGeom>
          <a:solidFill>
            <a:schemeClr val="tx1"/>
          </a:solidFill>
          <a:ln w="12700">
            <a:solidFill>
              <a:schemeClr val="tx1"/>
            </a:solidFill>
            <a:prstDash val="solid"/>
          </a:ln>
        </p:spPr>
      </p:sp>
      <p:sp>
        <p:nvSpPr>
          <p:cNvPr id="5" name="Text 3"/>
          <p:cNvSpPr txBox="1"/>
          <p:nvPr/>
        </p:nvSpPr>
        <p:spPr>
          <a:xfrm>
            <a:off x="9235440" y="301752"/>
            <a:ext cx="2377440" cy="384048"/>
          </a:xfrm>
          <a:prstGeom prst="rect">
            <a:avLst/>
          </a:prstGeom>
          <a:noFill/>
          <a:ln/>
        </p:spPr>
        <p:txBody>
          <a:bodyPr wrap="square" lIns="0" tIns="0" rIns="0" bIns="0" rtlCol="0" anchor="ctr"/>
          <a:lstStyle/>
          <a:p>
            <a:pPr algn="ctr" indent="0" marL="0">
              <a:buNone/>
            </a:pPr>
            <a:r>
              <a:rPr lang="en-US" sz="1200" b="1" dirty="0">
                <a:solidFill>
                  <a:schemeClr val="bg1"/>
                </a:solidFill>
              </a:rPr>
              <a:t>Whole team</a:t>
            </a:r>
            <a:endParaRPr lang="en-US" sz="1200" dirty="0"/>
          </a:p>
        </p:txBody>
      </p:sp>
      <p:sp>
        <p:nvSpPr>
          <p:cNvPr id="7" name="card"/>
          <p:cNvSpPr/>
          <p:nvPr/>
        </p:nvSpPr>
        <p:spPr>
          <a:xfrm>
            <a:off x="548640" y="1600200"/>
            <a:ext cx="6583680" cy="3657600"/>
          </a:xfrm>
          <a:prstGeom prst="rect">
            <a:avLst/>
          </a:prstGeom>
          <a:solidFill>
            <a:schemeClr val="tx1"/>
          </a:solidFill>
          <a:ln w="9525">
            <a:solidFill>
              <a:schemeClr val="tx1"/>
            </a:solidFill>
            <a:prstDash val="solid"/>
          </a:ln>
        </p:spPr>
      </p:sp>
      <p:sp>
        <p:nvSpPr>
          <p:cNvPr id="8" name="Text 5"/>
          <p:cNvSpPr txBox="1"/>
          <p:nvPr/>
        </p:nvSpPr>
        <p:spPr>
          <a:xfrm>
            <a:off x="822960" y="1783080"/>
            <a:ext cx="6126480" cy="384048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pip install -r requirements.txt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echo OPENAI_API_KEY=... &gt; .env   # or GROQ_API_KEY</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python -m evaluation.benchmark record --seeds 0 1 2</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python -m evaluation.benchmark analyze --seeds 0 1 2</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python -m evaluation.benchmark analyze-model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--provider groq --model openai/gpt-oss-120b --label gptoss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python -m evaluation.benchmark score</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python -m benchmark.demo F01        # live demo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pytest -q &amp;&amp; ruff check .</a:t>
            </a:r>
            <a:endParaRPr lang="en-US" sz="1300" dirty="0"/>
          </a:p>
        </p:txBody>
      </p:sp>
      <p:sp>
        <p:nvSpPr>
          <p:cNvPr id="9" name="card"/>
          <p:cNvSpPr/>
          <p:nvPr/>
        </p:nvSpPr>
        <p:spPr>
          <a:xfrm>
            <a:off x="7315200" y="1600200"/>
            <a:ext cx="4297680" cy="3657600"/>
          </a:xfrm>
          <a:prstGeom prst="rect">
            <a:avLst/>
          </a:prstGeom>
          <a:solidFill>
            <a:schemeClr val="bg1"/>
          </a:solidFill>
          <a:ln w="9525">
            <a:solidFill>
              <a:srgbClr val="D9DCE6"/>
            </a:solidFill>
            <a:prstDash val="solid"/>
          </a:ln>
          <a:effectLst>
            <a:outerShdw sx="100000" sy="100000" kx="0" ky="0" algn="bl" rotWithShape="0" blurRad="50800" dist="19050" dir="5400000">
              <a:srgbClr val="9AA0B4">
                <a:alpha val="25000"/>
              </a:srgbClr>
            </a:outerShdw>
          </a:effectLst>
        </p:spPr>
      </p:sp>
      <p:sp>
        <p:nvSpPr>
          <p:cNvPr id="10" name="Text 7"/>
          <p:cNvSpPr txBox="1"/>
          <p:nvPr/>
        </p:nvSpPr>
        <p:spPr>
          <a:xfrm>
            <a:off x="7543800" y="1737360"/>
            <a:ext cx="384048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What is fixed</a:t>
            </a:r>
            <a:endParaRPr lang="en-US" sz="1800" dirty="0"/>
          </a:p>
        </p:txBody>
      </p:sp>
      <p:sp>
        <p:nvSpPr>
          <p:cNvPr id="11" name="Text 8"/>
          <p:cNvSpPr txBox="1"/>
          <p:nvPr/>
        </p:nvSpPr>
        <p:spPr>
          <a:xfrm>
            <a:off x="7543800" y="2240280"/>
            <a:ext cx="3840480" cy="34290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Seeded traffic, decoy choice and commit order</a:t>
            </a:r>
            <a:endParaRPr lang="en-US" sz="1400" dirty="0"/>
          </a:p>
          <a:p>
            <a:pPr marL="203200" indent="-203200">
              <a:spcAft>
                <a:spcPts val="600"/>
              </a:spcAft>
              <a:buSzPct val="100000"/>
              <a:buChar char="•"/>
            </a:pPr>
            <a:r>
              <a:rPr lang="en-US" sz="1400" dirty="0">
                <a:solidFill>
                  <a:schemeClr val="tx1"/>
                </a:solidFill>
              </a:rPr>
              <a:t>Fixed commit dates, so git history is identical</a:t>
            </a:r>
            <a:endParaRPr lang="en-US" sz="1400" dirty="0"/>
          </a:p>
          <a:p>
            <a:pPr marL="203200" indent="-203200">
              <a:spcAft>
                <a:spcPts val="600"/>
              </a:spcAft>
              <a:buSzPct val="100000"/>
              <a:buChar char="•"/>
            </a:pPr>
            <a:r>
              <a:rPr lang="en-US" sz="1400" dirty="0">
                <a:solidFill>
                  <a:schemeClr val="tx1"/>
                </a:solidFill>
              </a:rPr>
              <a:t>Detector constants and tracer weights in code</a:t>
            </a:r>
            <a:endParaRPr lang="en-US" sz="1400" dirty="0"/>
          </a:p>
          <a:p>
            <a:pPr marL="203200" indent="-203200">
              <a:spcAft>
                <a:spcPts val="600"/>
              </a:spcAft>
              <a:buSzPct val="100000"/>
              <a:buChar char="•"/>
            </a:pPr>
            <a:r>
              <a:rPr lang="en-US" sz="1400" dirty="0">
                <a:solidFill>
                  <a:schemeClr val="tx1"/>
                </a:solidFill>
              </a:rPr>
              <a:t>Prompt versions in the audit trail</a:t>
            </a:r>
            <a:endParaRPr lang="en-US" sz="1400" dirty="0"/>
          </a:p>
          <a:p>
            <a:pPr marL="203200" indent="-203200">
              <a:spcAft>
                <a:spcPts val="600"/>
              </a:spcAft>
              <a:buSzPct val="100000"/>
              <a:buChar char="•"/>
            </a:pPr>
            <a:r>
              <a:rPr lang="en-US" sz="1400" dirty="0">
                <a:solidFill>
                  <a:schemeClr val="tx1"/>
                </a:solidFill>
              </a:rPr>
              <a:t>Raw telemetry per run in data/bench</a:t>
            </a:r>
            <a:endParaRPr lang="en-US" sz="1400" dirty="0"/>
          </a:p>
          <a:p>
            <a:pPr marL="203200" indent="-203200">
              <a:spcAft>
                <a:spcPts val="600"/>
              </a:spcAft>
              <a:buSzPct val="100000"/>
              <a:buChar char="•"/>
            </a:pPr>
            <a:r>
              <a:rPr lang="en-US" sz="1400" dirty="0">
                <a:solidFill>
                  <a:schemeClr val="tx1"/>
                </a:solidFill>
              </a:rPr>
              <a:t>Per-run results in evaluation/results/runs</a:t>
            </a:r>
            <a:endParaRPr lang="en-US" sz="1400" dirty="0"/>
          </a:p>
        </p:txBody>
      </p:sp>
      <p:sp>
        <p:nvSpPr>
          <p:cNvPr id="25" name="Slide Number Placeholder 0"/>
          <p:cNvSpPr>
            <a:spLocks noGrp="1"/>
          </p:cNvSpPr>
          <p:nvPr>
            <p:ph type="sldNum" sz="quarter" idx="4294967295"/>
          </p:nvPr>
        </p:nvSpPr>
        <p:spPr>
          <a:xfrm>
            <a:off x="1110996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07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22960" y="640080"/>
            <a:ext cx="7315200" cy="320040"/>
          </a:xfrm>
          <a:prstGeom prst="rect">
            <a:avLst/>
          </a:prstGeom>
          <a:noFill/>
          <a:ln/>
        </p:spPr>
        <p:txBody>
          <a:bodyPr wrap="square" lIns="0" tIns="0" rIns="0" bIns="0" rtlCol="0" anchor="t"/>
          <a:lstStyle/>
          <a:p>
            <a:pPr indent="0" marL="0">
              <a:buNone/>
            </a:pPr>
            <a:r>
              <a:rPr lang="en-US" sz="1400" b="1" spc="400" kern="0" dirty="0">
                <a:solidFill>
                  <a:srgbClr val="E07A2E"/>
                </a:solidFill>
              </a:rPr>
              <a:t>CONCLUSION</a:t>
            </a:r>
            <a:endParaRPr lang="en-US" sz="1400" dirty="0"/>
          </a:p>
        </p:txBody>
      </p:sp>
      <p:sp>
        <p:nvSpPr>
          <p:cNvPr id="3" name="Text 1"/>
          <p:cNvSpPr txBox="1"/>
          <p:nvPr/>
        </p:nvSpPr>
        <p:spPr>
          <a:xfrm>
            <a:off x="822960" y="1005840"/>
            <a:ext cx="10515600" cy="9144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Evidence beats similarity: the faulty function is ranked first in 85% of incidents</a:t>
            </a:r>
            <a:endParaRPr lang="en-US" sz="3200" dirty="0"/>
          </a:p>
        </p:txBody>
      </p:sp>
      <p:sp>
        <p:nvSpPr>
          <p:cNvPr id="4" name="Text 2"/>
          <p:cNvSpPr txBox="1"/>
          <p:nvPr/>
        </p:nvSpPr>
        <p:spPr>
          <a:xfrm>
            <a:off x="822960" y="2240280"/>
            <a:ext cx="5029200" cy="411480"/>
          </a:xfrm>
          <a:prstGeom prst="rect">
            <a:avLst/>
          </a:prstGeom>
          <a:noFill/>
          <a:ln/>
        </p:spPr>
        <p:txBody>
          <a:bodyPr wrap="square" lIns="0" tIns="0" rIns="0" bIns="0" rtlCol="0" anchor="t"/>
          <a:lstStyle/>
          <a:p>
            <a:pPr indent="0" marL="0">
              <a:buNone/>
            </a:pPr>
            <a:r>
              <a:rPr lang="en-US" sz="2000" b="1" dirty="0">
                <a:solidFill>
                  <a:srgbClr val="D6DAEA"/>
                </a:solidFill>
                <a:latin typeface="Cambria" pitchFamily="34" charset="0"/>
                <a:ea typeface="Cambria" pitchFamily="34" charset="-122"/>
                <a:cs typeface="Cambria" pitchFamily="34" charset="-120"/>
              </a:rPr>
              <a:t>What we can say</a:t>
            </a:r>
            <a:endParaRPr lang="en-US" sz="2000" dirty="0"/>
          </a:p>
        </p:txBody>
      </p:sp>
      <p:sp>
        <p:nvSpPr>
          <p:cNvPr id="5" name="Text 3"/>
          <p:cNvSpPr txBox="1"/>
          <p:nvPr/>
        </p:nvSpPr>
        <p:spPr>
          <a:xfrm>
            <a:off x="822960" y="2743200"/>
            <a:ext cx="5120640" cy="32918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FFFFF"/>
                </a:solidFill>
              </a:rPr>
              <a:t>Robust, change-aware detection found 92% of faults vs 33% for fixed thresholds, at 2 false incidents in 6 quiet runs</a:t>
            </a:r>
            <a:endParaRPr lang="en-US" sz="1500" dirty="0"/>
          </a:p>
          <a:p>
            <a:pPr marL="203200" indent="-203200">
              <a:spcAft>
                <a:spcPts val="600"/>
              </a:spcAft>
              <a:buSzPct val="100000"/>
              <a:buChar char="•"/>
            </a:pPr>
            <a:r>
              <a:rPr lang="en-US" sz="1500" dirty="0">
                <a:solidFill>
                  <a:srgbClr val="FFFFFF"/>
                </a:solidFill>
              </a:rPr>
              <a:t>Hybrid tracing: 85% Top-1 vs 36% blame-deploy, 46% plain RAG + LLM, 3% v0</a:t>
            </a:r>
            <a:endParaRPr lang="en-US" sz="1500" dirty="0"/>
          </a:p>
          <a:p>
            <a:pPr marL="203200" indent="-203200">
              <a:spcAft>
                <a:spcPts val="600"/>
              </a:spcAft>
              <a:buSzPct val="100000"/>
              <a:buChar char="•"/>
            </a:pPr>
            <a:r>
              <a:rPr lang="en-US" sz="1500" dirty="0">
                <a:solidFill>
                  <a:srgbClr val="FFFFFF"/>
                </a:solidFill>
              </a:rPr>
              <a:t>Generated tests confirmed the diagnosis in 94% (template) and 91% (LLM) of detected faults</a:t>
            </a:r>
            <a:endParaRPr lang="en-US" sz="1500" dirty="0"/>
          </a:p>
          <a:p>
            <a:pPr marL="203200" indent="-203200">
              <a:spcAft>
                <a:spcPts val="600"/>
              </a:spcAft>
              <a:buSzPct val="100000"/>
              <a:buChar char="•"/>
            </a:pPr>
            <a:r>
              <a:rPr lang="en-US" sz="1500" dirty="0">
                <a:solidFill>
                  <a:srgbClr val="FFFFFF"/>
                </a:solidFill>
              </a:rPr>
              <a:t>82% right actions vs 13% for scale-on-alert; no code fix proposed on any control</a:t>
            </a:r>
            <a:endParaRPr lang="en-US" sz="1500" dirty="0"/>
          </a:p>
        </p:txBody>
      </p:sp>
      <p:sp>
        <p:nvSpPr>
          <p:cNvPr id="6" name="Text 4"/>
          <p:cNvSpPr txBox="1"/>
          <p:nvPr/>
        </p:nvSpPr>
        <p:spPr>
          <a:xfrm>
            <a:off x="6400800" y="2240280"/>
            <a:ext cx="5029200" cy="411480"/>
          </a:xfrm>
          <a:prstGeom prst="rect">
            <a:avLst/>
          </a:prstGeom>
          <a:noFill/>
          <a:ln/>
        </p:spPr>
        <p:txBody>
          <a:bodyPr wrap="square" lIns="0" tIns="0" rIns="0" bIns="0" rtlCol="0" anchor="t"/>
          <a:lstStyle/>
          <a:p>
            <a:pPr indent="0" marL="0">
              <a:buNone/>
            </a:pPr>
            <a:r>
              <a:rPr lang="en-US" sz="2000" b="1" dirty="0">
                <a:solidFill>
                  <a:srgbClr val="D6DAEA"/>
                </a:solidFill>
                <a:latin typeface="Cambria" pitchFamily="34" charset="0"/>
                <a:ea typeface="Cambria" pitchFamily="34" charset="-122"/>
                <a:cs typeface="Cambria" pitchFamily="34" charset="-120"/>
              </a:rPr>
              <a:t>Next steps</a:t>
            </a:r>
            <a:endParaRPr lang="en-US" sz="2000" dirty="0"/>
          </a:p>
        </p:txBody>
      </p:sp>
      <p:sp>
        <p:nvSpPr>
          <p:cNvPr id="7" name="Text 5"/>
          <p:cNvSpPr txBox="1"/>
          <p:nvPr/>
        </p:nvSpPr>
        <p:spPr>
          <a:xfrm>
            <a:off x="6400800" y="2743200"/>
            <a:ext cx="5120640" cy="32918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FFFFF"/>
                </a:solidFill>
              </a:rPr>
              <a:t>P1: Prometheus / OpenTelemetry instead of in-process telemetry; latent-fault scenarios</a:t>
            </a:r>
            <a:endParaRPr lang="en-US" sz="1500" dirty="0"/>
          </a:p>
          <a:p>
            <a:pPr marL="203200" indent="-203200">
              <a:spcAft>
                <a:spcPts val="600"/>
              </a:spcAft>
              <a:buSzPct val="100000"/>
              <a:buChar char="•"/>
            </a:pPr>
            <a:r>
              <a:rPr lang="en-US" sz="1500" dirty="0">
                <a:solidFill>
                  <a:srgbClr val="FFFFFF"/>
                </a:solidFill>
              </a:rPr>
              <a:t>P2: multi-language index (tree-sitter); learn weights on a separate fault set</a:t>
            </a:r>
            <a:endParaRPr lang="en-US" sz="1500" dirty="0"/>
          </a:p>
          <a:p>
            <a:pPr marL="203200" indent="-203200">
              <a:spcAft>
                <a:spcPts val="600"/>
              </a:spcAft>
              <a:buSzPct val="100000"/>
              <a:buChar char="•"/>
            </a:pPr>
            <a:r>
              <a:rPr lang="en-US" sz="1500" dirty="0">
                <a:solidFill>
                  <a:srgbClr val="FFFFFF"/>
                </a:solidFill>
              </a:rPr>
              <a:t>P3: concurrency-aware test templates; run tests in a container sandbox</a:t>
            </a:r>
            <a:endParaRPr lang="en-US" sz="1500" dirty="0"/>
          </a:p>
          <a:p>
            <a:pPr marL="203200" indent="-203200">
              <a:spcAft>
                <a:spcPts val="600"/>
              </a:spcAft>
              <a:buSzPct val="100000"/>
              <a:buChar char="•"/>
            </a:pPr>
            <a:r>
              <a:rPr lang="en-US" sz="1500" dirty="0">
                <a:solidFill>
                  <a:srgbClr val="FFFFFF"/>
                </a:solidFill>
              </a:rPr>
              <a:t>Team: step 7-8 draft PR with the confirming test, CI gate and canary, behind approval</a:t>
            </a:r>
            <a:endParaRPr lang="en-US" sz="1500" dirty="0"/>
          </a:p>
        </p:txBody>
      </p:sp>
    </p:spTree>
  </p:cSld>
  <p:clrMapOvr>
    <a:masterClrMapping/>
  </p:clrMapOvr>
</p:sld>
</file>

<file path=ppt/theme/theme1.xml><?xml version="1.0" encoding="utf-8"?>
<a:theme xmlns:a="http://schemas.openxmlformats.org/drawingml/2006/main" name="AIOps Sentinel">
  <a:themeElements>
    <a:clrScheme name="AIOps Sentinel">
      <a:dk1>
        <a:srgbClr val="1B1E2B"/>
      </a:dk1>
      <a:lt1>
        <a:srgbClr val="FFFFFF"/>
      </a:lt1>
      <a:dk2>
        <a:srgbClr val="5A6072"/>
      </a:dk2>
      <a:lt2>
        <a:srgbClr val="F5F6FA"/>
      </a:lt2>
      <a:accent1>
        <a:srgbClr val="3D4FA0"/>
      </a:accent1>
      <a:accent2>
        <a:srgbClr val="E07A2E"/>
      </a:accent2>
      <a:accent3>
        <a:srgbClr val="3C8D5A"/>
      </a:accent3>
      <a:accent4>
        <a:srgbClr val="E7EAF6"/>
      </a:accent4>
      <a:accent5>
        <a:srgbClr val="8A90A2"/>
      </a:accent5>
      <a:accent6>
        <a:srgbClr val="B5473A"/>
      </a:accent6>
      <a:hlink>
        <a:srgbClr val="3D4FA0"/>
      </a:hlink>
      <a:folHlink>
        <a:srgbClr val="2E6B44"/>
      </a:folHlink>
    </a:clrScheme>
    <a:fontScheme name="AIOps Sentin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AIOps Sentinel - project review</dc:title>
  <dc:subject>PptxGenJS Presentation</dc:subject>
  <dc:creator>Akash, Aryan, Syna</dc:creator>
  <cp:lastModifiedBy>Akash, Aryan, Syna</cp:lastModifiedBy>
  <cp:revision>1</cp:revision>
  <dcterms:created xsi:type="dcterms:W3CDTF">2026-10-08T15:27:20Z</dcterms:created>
  <dcterms:modified xsi:type="dcterms:W3CDTF">2026-10-08T15:27:20Z</dcterms:modified>
</cp:coreProperties>
</file>